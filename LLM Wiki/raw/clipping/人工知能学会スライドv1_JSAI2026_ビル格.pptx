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Georgia" charset="1" panose="02040502050405020303"/>
      <p:regular r:id="rId24"/>
    </p:embeddedFont>
    <p:embeddedFont>
      <p:font typeface="Arimo Bold" charset="1" panose="020B0704020202020204"/>
      <p:regular r:id="rId25"/>
    </p:embeddedFont>
    <p:embeddedFont>
      <p:font typeface="Georgia Italics" charset="1" panose="02040502050405090303"/>
      <p:regular r:id="rId26"/>
    </p:embeddedFont>
    <p:embeddedFont>
      <p:font typeface="Georgia Bold" charset="1" panose="02040802050405020203"/>
      <p:regular r:id="rId27"/>
    </p:embeddedFont>
    <p:embeddedFont>
      <p:font typeface="Arimo" charset="1" panose="020B0604020202020204"/>
      <p:regular r:id="rId28"/>
    </p:embeddedFont>
    <p:embeddedFont>
      <p:font typeface="Arimo Italics" charset="1" panose="020B0604020202090204"/>
      <p:regular r:id="rId29"/>
    </p:embeddedFont>
    <p:embeddedFont>
      <p:font typeface="Arimo Bold Italics" charset="1" panose="020B070402020209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VAG314dT_Vs.mp4" Type="http://schemas.openxmlformats.org/officeDocument/2006/relationships/video"/><Relationship Id="rId5" Target="../media/VAG314dT_Vs.mp4" Type="http://schemas.microsoft.com/office/2007/relationships/media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5F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6000" y="-274320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D67D3E">
                <a:alpha val="588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996160" y="5852160"/>
            <a:ext cx="5486400" cy="5486400"/>
            <a:chOff x="0" y="0"/>
            <a:chExt cx="7315200" cy="731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E27D60">
                <a:alpha val="3922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7315200"/>
            <a:ext cx="914400" cy="2194560"/>
            <a:chOff x="0" y="0"/>
            <a:chExt cx="1219200" cy="2926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92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D67D3E">
                <a:alpha val="48627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103120" y="6400800"/>
            <a:ext cx="1005840" cy="3108960"/>
            <a:chOff x="0" y="0"/>
            <a:chExt cx="1341120" cy="4145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1120" cy="4145280"/>
            </a:xfrm>
            <a:custGeom>
              <a:avLst/>
              <a:gdLst/>
              <a:ahLst/>
              <a:cxnLst/>
              <a:rect r="r" b="b" t="t" l="l"/>
              <a:pathLst>
                <a:path h="41452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E8B04B">
                <a:alpha val="56078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200400" y="7680960"/>
            <a:ext cx="822960" cy="1828800"/>
            <a:chOff x="0" y="0"/>
            <a:chExt cx="1097280" cy="2438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27D60">
                <a:alpha val="41961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7280" y="731520"/>
            <a:ext cx="7315200" cy="548640"/>
            <a:chOff x="0" y="0"/>
            <a:chExt cx="975360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97536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spc="600">
                  <a:solidFill>
                    <a:srgbClr val="E8B04B"/>
                  </a:solidFill>
                  <a:latin typeface="Georgia"/>
                  <a:ea typeface="Georgia"/>
                  <a:cs typeface="Georgia"/>
                  <a:sym typeface="Georgia"/>
                </a:rPr>
                <a:t>人工知能学会 2026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7280" y="1828800"/>
            <a:ext cx="16459200" cy="1463040"/>
            <a:chOff x="0" y="0"/>
            <a:chExt cx="21945600" cy="1950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94560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人格を持つ不動産が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97280" y="3200400"/>
            <a:ext cx="16459200" cy="1463040"/>
            <a:chOff x="0" y="0"/>
            <a:chExt cx="21945600" cy="19507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194560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もたらす新領域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97280" y="4846320"/>
            <a:ext cx="16459200" cy="731520"/>
            <a:chOff x="0" y="0"/>
            <a:chExt cx="21945600" cy="975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2194560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i="true">
                  <a:solidFill>
                    <a:srgbClr val="E8B04B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Building Personality: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97280" y="5486400"/>
            <a:ext cx="16459200" cy="640080"/>
            <a:chOff x="0" y="0"/>
            <a:chExt cx="21945600" cy="8534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2194560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FFFCF5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New Frontiers Enabled by Real Estate with Personality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486400" y="7315200"/>
            <a:ext cx="8229600" cy="1828800"/>
            <a:chOff x="0" y="0"/>
            <a:chExt cx="10972800" cy="2438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10972800" cy="2438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樅山 拓大</a:t>
              </a:r>
              <a:r>
                <a:rPr lang="en-US" sz="2400" i="true">
                  <a:solidFill>
                    <a:srgbClr val="FFFCF5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  Hiroto Momiyama</a:t>
              </a:r>
            </a:p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4A8A9D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Asia Pacific University of Technology &amp; Innovation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887200" y="7315200"/>
            <a:ext cx="6400800" cy="1828800"/>
            <a:chOff x="0" y="0"/>
            <a:chExt cx="8534400" cy="2438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534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8534400" cy="2438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吉原 勝己</a:t>
              </a:r>
              <a:r>
                <a:rPr lang="en-US" sz="2400" i="true">
                  <a:solidFill>
                    <a:srgbClr val="FFFCF5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  Katsumi Yoshihara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A8A9D"/>
                  </a:solidFill>
                  <a:latin typeface="Arimo"/>
                  <a:ea typeface="Arimo"/>
                  <a:cs typeface="Arimo"/>
                  <a:sym typeface="Arimo"/>
                </a:rPr>
                <a:t>吉原住宅有限会社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0" y="9912096"/>
            <a:ext cx="18288000" cy="91440"/>
            <a:chOff x="0" y="0"/>
            <a:chExt cx="24384000" cy="1219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4384000" cy="121920"/>
            </a:xfrm>
            <a:custGeom>
              <a:avLst/>
              <a:gdLst/>
              <a:ahLst/>
              <a:cxnLst/>
              <a:rect r="r" b="b" t="t" l="l"/>
              <a:pathLst>
                <a:path h="1219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822960"/>
            <a:ext cx="146304" cy="1280160"/>
            <a:chOff x="0" y="0"/>
            <a:chExt cx="195072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8720" y="731520"/>
            <a:ext cx="16093440" cy="1005840"/>
            <a:chOff x="0" y="0"/>
            <a:chExt cx="214579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45792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E5F7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背景：不動産評価の限界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88720" y="1737360"/>
            <a:ext cx="16093440" cy="548640"/>
            <a:chOff x="0" y="0"/>
            <a:chExt cx="2145792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4579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D67D3E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Background: Limits of Real Estate Valuation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9912096"/>
            <a:ext cx="18288000" cy="73152"/>
            <a:chOff x="0" y="0"/>
            <a:chExt cx="24384000" cy="975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0" cy="97536"/>
            </a:xfrm>
            <a:custGeom>
              <a:avLst/>
              <a:gdLst/>
              <a:ahLst/>
              <a:cxnLst/>
              <a:rect r="r" b="b" t="t" l="l"/>
              <a:pathLst>
                <a:path h="9753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459200" y="9509760"/>
            <a:ext cx="1645920" cy="457200"/>
            <a:chOff x="0" y="0"/>
            <a:chExt cx="219456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19456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6B6B6B"/>
                  </a:solidFill>
                  <a:latin typeface="Georgia"/>
                  <a:ea typeface="Georgia"/>
                  <a:cs typeface="Georgia"/>
                  <a:sym typeface="Georgia"/>
                </a:rPr>
                <a:t>2 / 15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31520" y="9509760"/>
            <a:ext cx="5486400" cy="457200"/>
            <a:chOff x="0" y="0"/>
            <a:chExt cx="7315200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73152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6B6B"/>
                  </a:solidFill>
                  <a:latin typeface="Arimo"/>
                  <a:ea typeface="Arimo"/>
                  <a:cs typeface="Arimo"/>
                  <a:sym typeface="Arimo"/>
                </a:rPr>
                <a:t>発表：吉原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400800" y="9509760"/>
            <a:ext cx="10058400" cy="457200"/>
            <a:chOff x="0" y="0"/>
            <a:chExt cx="13411200" cy="60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11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34112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B6B6B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ビル格 — Building Personality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822960"/>
            <a:ext cx="146304" cy="1280160"/>
            <a:chOff x="0" y="0"/>
            <a:chExt cx="195072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8720" y="731520"/>
            <a:ext cx="16093440" cy="1005840"/>
            <a:chOff x="0" y="0"/>
            <a:chExt cx="214579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45792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E5F7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問題提起：数値化されない建物価値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88720" y="1737360"/>
            <a:ext cx="16093440" cy="548640"/>
            <a:chOff x="0" y="0"/>
            <a:chExt cx="2145792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4579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D67D3E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The Untapped Qualitative Layer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9912096"/>
            <a:ext cx="18288000" cy="73152"/>
            <a:chOff x="0" y="0"/>
            <a:chExt cx="24384000" cy="975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0" cy="97536"/>
            </a:xfrm>
            <a:custGeom>
              <a:avLst/>
              <a:gdLst/>
              <a:ahLst/>
              <a:cxnLst/>
              <a:rect r="r" b="b" t="t" l="l"/>
              <a:pathLst>
                <a:path h="9753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459200" y="9509760"/>
            <a:ext cx="1645920" cy="457200"/>
            <a:chOff x="0" y="0"/>
            <a:chExt cx="219456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19456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6B6B6B"/>
                  </a:solidFill>
                  <a:latin typeface="Georgia"/>
                  <a:ea typeface="Georgia"/>
                  <a:cs typeface="Georgia"/>
                  <a:sym typeface="Georgia"/>
                </a:rPr>
                <a:t>3 / 15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31520" y="9509760"/>
            <a:ext cx="5486400" cy="457200"/>
            <a:chOff x="0" y="0"/>
            <a:chExt cx="7315200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73152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6B6B"/>
                  </a:solidFill>
                  <a:latin typeface="Arimo"/>
                  <a:ea typeface="Arimo"/>
                  <a:cs typeface="Arimo"/>
                  <a:sym typeface="Arimo"/>
                </a:rPr>
                <a:t>発表：吉原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400800" y="9509760"/>
            <a:ext cx="10058400" cy="457200"/>
            <a:chOff x="0" y="0"/>
            <a:chExt cx="13411200" cy="60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11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34112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B6B6B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ビル格 — Building Personality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822960"/>
            <a:ext cx="146304" cy="1280160"/>
            <a:chOff x="0" y="0"/>
            <a:chExt cx="195072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8720" y="731520"/>
            <a:ext cx="16093440" cy="1005840"/>
            <a:chOff x="0" y="0"/>
            <a:chExt cx="214579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45792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E5F7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ビル格（Building Personality）とは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88720" y="1737360"/>
            <a:ext cx="16093440" cy="548640"/>
            <a:chOff x="0" y="0"/>
            <a:chExt cx="2145792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4579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D67D3E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Reframing Buildings as Meaning-Making Agents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412480" y="4389120"/>
            <a:ext cx="1463040" cy="1005840"/>
            <a:chOff x="0" y="0"/>
            <a:chExt cx="1950720" cy="1341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07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412480" y="4242816"/>
            <a:ext cx="1463040" cy="1280160"/>
            <a:chOff x="0" y="0"/>
            <a:chExt cx="1950720" cy="17068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07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2265" t="0" r="-62265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50720" cy="1706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→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2743200"/>
            <a:ext cx="7315200" cy="4389120"/>
            <a:chOff x="0" y="0"/>
            <a:chExt cx="9753600" cy="58521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753600" cy="5852160"/>
            </a:xfrm>
            <a:custGeom>
              <a:avLst/>
              <a:gdLst/>
              <a:ahLst/>
              <a:cxnLst/>
              <a:rect r="r" b="b" t="t" l="l"/>
              <a:pathLst>
                <a:path h="58521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852160"/>
                  </a:lnTo>
                  <a:lnTo>
                    <a:pt x="0" y="5852160"/>
                  </a:lnTo>
                  <a:close/>
                </a:path>
              </a:pathLst>
            </a:custGeom>
            <a:solidFill>
              <a:srgbClr val="E8DDC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80160" y="2926080"/>
            <a:ext cx="2743200" cy="548640"/>
            <a:chOff x="0" y="0"/>
            <a:chExt cx="365760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36576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799">
                  <a:solidFill>
                    <a:srgbClr val="6B6B6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従来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80160" y="3566160"/>
            <a:ext cx="6583680" cy="1005840"/>
            <a:chOff x="0" y="0"/>
            <a:chExt cx="8778240" cy="1341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782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538" r="0" b="-7753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877824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E5F7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数字で測る対象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80160" y="4937760"/>
            <a:ext cx="6583680" cy="2194560"/>
            <a:chOff x="0" y="0"/>
            <a:chExt cx="8778240" cy="2926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7782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778240" cy="2935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● 立地・面積・利回り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● 静的な構造物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● 公開されたスペック情報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058400" y="2743200"/>
            <a:ext cx="7315200" cy="4389120"/>
            <a:chOff x="0" y="0"/>
            <a:chExt cx="9753600" cy="5852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753600" cy="5852160"/>
            </a:xfrm>
            <a:custGeom>
              <a:avLst/>
              <a:gdLst/>
              <a:ahLst/>
              <a:cxnLst/>
              <a:rect r="r" b="b" t="t" l="l"/>
              <a:pathLst>
                <a:path h="58521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852160"/>
                  </a:lnTo>
                  <a:lnTo>
                    <a:pt x="0" y="5852160"/>
                  </a:lnTo>
                  <a:close/>
                </a:path>
              </a:pathLst>
            </a:custGeom>
            <a:solidFill>
              <a:srgbClr val="1E5F74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424160" y="2926080"/>
            <a:ext cx="5486400" cy="548640"/>
            <a:chOff x="0" y="0"/>
            <a:chExt cx="7315200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73152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799">
                  <a:solidFill>
                    <a:srgbClr val="E8B04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ビル格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424160" y="3566160"/>
            <a:ext cx="6583680" cy="1005840"/>
            <a:chOff x="0" y="0"/>
            <a:chExt cx="8778240" cy="13411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7782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538" r="0" b="-7753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877824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意味を語り判断する主体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424160" y="4937760"/>
            <a:ext cx="6583680" cy="2194560"/>
            <a:chOff x="0" y="0"/>
            <a:chExt cx="8778240" cy="2926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7782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8778240" cy="2935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CF5"/>
                  </a:solidFill>
                  <a:latin typeface="Arimo"/>
                  <a:ea typeface="Arimo"/>
                  <a:cs typeface="Arimo"/>
                  <a:sym typeface="Arimo"/>
                </a:rPr>
                <a:t>● 固有の価値観・哲学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CF5"/>
                  </a:solidFill>
                  <a:latin typeface="Arimo"/>
                  <a:ea typeface="Arimo"/>
                  <a:cs typeface="Arimo"/>
                  <a:sym typeface="Arimo"/>
                </a:rPr>
                <a:t>● 自律型AIエージェント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CF5"/>
                  </a:solidFill>
                  <a:latin typeface="Arimo"/>
                  <a:ea typeface="Arimo"/>
                  <a:cs typeface="Arimo"/>
                  <a:sym typeface="Arimo"/>
                </a:rPr>
                <a:t>● 一次情報に根ざす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01703" y="7485383"/>
            <a:ext cx="16484603" cy="1854203"/>
            <a:chOff x="0" y="0"/>
            <a:chExt cx="21979471" cy="247227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79381" cy="2472182"/>
            </a:xfrm>
            <a:custGeom>
              <a:avLst/>
              <a:gdLst/>
              <a:ahLst/>
              <a:cxnLst/>
              <a:rect r="r" b="b" t="t" l="l"/>
              <a:pathLst>
                <a:path h="2472182" w="21979381">
                  <a:moveTo>
                    <a:pt x="0" y="123571"/>
                  </a:moveTo>
                  <a:cubicBezTo>
                    <a:pt x="0" y="55372"/>
                    <a:pt x="55372" y="0"/>
                    <a:pt x="123571" y="0"/>
                  </a:cubicBezTo>
                  <a:lnTo>
                    <a:pt x="21855810" y="0"/>
                  </a:lnTo>
                  <a:cubicBezTo>
                    <a:pt x="21924136" y="0"/>
                    <a:pt x="21979381" y="55372"/>
                    <a:pt x="21979381" y="123571"/>
                  </a:cubicBezTo>
                  <a:lnTo>
                    <a:pt x="21979381" y="2348611"/>
                  </a:lnTo>
                  <a:cubicBezTo>
                    <a:pt x="21979381" y="2416937"/>
                    <a:pt x="21924009" y="2472182"/>
                    <a:pt x="21855810" y="2472182"/>
                  </a:cubicBezTo>
                  <a:lnTo>
                    <a:pt x="123571" y="2472182"/>
                  </a:lnTo>
                  <a:cubicBezTo>
                    <a:pt x="55245" y="2472182"/>
                    <a:pt x="0" y="2416810"/>
                    <a:pt x="0" y="2348611"/>
                  </a:cubicBezTo>
                  <a:close/>
                </a:path>
              </a:pathLst>
            </a:custGeom>
            <a:solidFill>
              <a:srgbClr val="FFFCF5"/>
            </a:solidFill>
            <a:ln w="25400" cap="sq">
              <a:solidFill>
                <a:srgbClr val="D67D3E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463040" y="7680960"/>
            <a:ext cx="15361920" cy="1554480"/>
            <a:chOff x="0" y="0"/>
            <a:chExt cx="20482560" cy="2072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482561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2558" r="0" b="-14255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20482560" cy="2091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4A8A9D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LLM</a:t>
              </a:r>
              <a:r>
                <a:rPr lang="en-US" sz="2600" b="true">
                  <a:solidFill>
                    <a:srgbClr val="2A2A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を用いて、</a:t>
              </a:r>
              <a:r>
                <a:rPr lang="en-US" sz="2600" b="true">
                  <a:solidFill>
                    <a:srgbClr val="2A2A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建物に</a:t>
              </a:r>
              <a:r>
                <a:rPr lang="en-US" sz="2600" b="true">
                  <a:solidFill>
                    <a:srgbClr val="D67D3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固有の人格・思想・歴史・関係性</a:t>
              </a:r>
              <a:r>
                <a:rPr lang="en-US" sz="2600" b="true">
                  <a:solidFill>
                    <a:srgbClr val="2A2A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を構造化し、AIによって表現・運用できるようにする概念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0" y="9912096"/>
            <a:ext cx="18288000" cy="73152"/>
            <a:chOff x="0" y="0"/>
            <a:chExt cx="24384000" cy="9753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4384000" cy="97536"/>
            </a:xfrm>
            <a:custGeom>
              <a:avLst/>
              <a:gdLst/>
              <a:ahLst/>
              <a:cxnLst/>
              <a:rect r="r" b="b" t="t" l="l"/>
              <a:pathLst>
                <a:path h="9753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6459200" y="9509760"/>
            <a:ext cx="1645920" cy="457200"/>
            <a:chOff x="0" y="0"/>
            <a:chExt cx="2194560" cy="609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9456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219456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6B6B6B"/>
                  </a:solidFill>
                  <a:latin typeface="Georgia"/>
                  <a:ea typeface="Georgia"/>
                  <a:cs typeface="Georgia"/>
                  <a:sym typeface="Georgia"/>
                </a:rPr>
                <a:t>4 / 15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31520" y="9509760"/>
            <a:ext cx="5486400" cy="457200"/>
            <a:chOff x="0" y="0"/>
            <a:chExt cx="7315200" cy="609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73152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6B6B"/>
                  </a:solidFill>
                  <a:latin typeface="Arimo"/>
                  <a:ea typeface="Arimo"/>
                  <a:cs typeface="Arimo"/>
                  <a:sym typeface="Arimo"/>
                </a:rPr>
                <a:t>発表：もみやま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400800" y="9509760"/>
            <a:ext cx="10058400" cy="457200"/>
            <a:chOff x="0" y="0"/>
            <a:chExt cx="13411200" cy="609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411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134112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B6B6B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ビル格 — Building Personality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822960"/>
            <a:ext cx="146304" cy="1280160"/>
            <a:chOff x="0" y="0"/>
            <a:chExt cx="195072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8720" y="731520"/>
            <a:ext cx="16093440" cy="1005840"/>
            <a:chOff x="0" y="0"/>
            <a:chExt cx="214579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45792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E5F7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5階層モデル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88720" y="1737360"/>
            <a:ext cx="16093440" cy="548640"/>
            <a:chOff x="0" y="0"/>
            <a:chExt cx="2145792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4579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D67D3E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Five-Layer Model of Qualitative Data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80160" y="2743200"/>
            <a:ext cx="4572000" cy="1097280"/>
            <a:chOff x="0" y="0"/>
            <a:chExt cx="6096000" cy="1463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960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71600" y="2743200"/>
            <a:ext cx="1828800" cy="1097280"/>
            <a:chOff x="0" y="0"/>
            <a:chExt cx="2438400" cy="1463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4384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魂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200400" y="2743200"/>
            <a:ext cx="2560320" cy="1097280"/>
            <a:chOff x="0" y="0"/>
            <a:chExt cx="3413760" cy="1463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341376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i="true">
                  <a:solidFill>
                    <a:srgbClr val="FFFCF5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Soul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80160" y="4023360"/>
            <a:ext cx="4572000" cy="1097280"/>
            <a:chOff x="0" y="0"/>
            <a:chExt cx="6096000" cy="14630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0960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E27D6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71600" y="4023360"/>
            <a:ext cx="1828800" cy="1097280"/>
            <a:chOff x="0" y="0"/>
            <a:chExt cx="2438400" cy="1463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38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24384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心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200400" y="4023360"/>
            <a:ext cx="2560320" cy="1097280"/>
            <a:chOff x="0" y="0"/>
            <a:chExt cx="3413760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341376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i="true">
                  <a:solidFill>
                    <a:srgbClr val="FFFCF5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Heart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80160" y="5303520"/>
            <a:ext cx="4572000" cy="1097280"/>
            <a:chOff x="0" y="0"/>
            <a:chExt cx="6096000" cy="1463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960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E8B04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71600" y="5303520"/>
            <a:ext cx="1828800" cy="1097280"/>
            <a:chOff x="0" y="0"/>
            <a:chExt cx="2438400" cy="14630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38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24384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記憶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200400" y="5303520"/>
            <a:ext cx="2560320" cy="1097280"/>
            <a:chOff x="0" y="0"/>
            <a:chExt cx="3413760" cy="14630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341376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i="true">
                  <a:solidFill>
                    <a:srgbClr val="FFFCF5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Memory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80160" y="6583680"/>
            <a:ext cx="4572000" cy="1097280"/>
            <a:chOff x="0" y="0"/>
            <a:chExt cx="6096000" cy="14630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960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4A8A9D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71600" y="6583680"/>
            <a:ext cx="1828800" cy="1097280"/>
            <a:chOff x="0" y="0"/>
            <a:chExt cx="2438400" cy="14630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38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24384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五感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200400" y="6583680"/>
            <a:ext cx="2560320" cy="1097280"/>
            <a:chOff x="0" y="0"/>
            <a:chExt cx="3413760" cy="14630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341376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i="true">
                  <a:solidFill>
                    <a:srgbClr val="FFFCF5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Senses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80160" y="7863840"/>
            <a:ext cx="4572000" cy="1097280"/>
            <a:chOff x="0" y="0"/>
            <a:chExt cx="6096000" cy="14630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0960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E5F74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71600" y="7863840"/>
            <a:ext cx="1828800" cy="1097280"/>
            <a:chOff x="0" y="0"/>
            <a:chExt cx="2438400" cy="14630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38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24384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身体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3200400" y="7863840"/>
            <a:ext cx="2560320" cy="1097280"/>
            <a:chOff x="0" y="0"/>
            <a:chExt cx="3413760" cy="1463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341376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i="true">
                  <a:solidFill>
                    <a:srgbClr val="FFFCF5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Body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423587" y="2662693"/>
            <a:ext cx="551753" cy="616226"/>
            <a:chOff x="0" y="0"/>
            <a:chExt cx="654985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54985" cy="731520"/>
            </a:xfrm>
            <a:custGeom>
              <a:avLst/>
              <a:gdLst/>
              <a:ahLst/>
              <a:cxnLst/>
              <a:rect r="r" b="b" t="t" l="l"/>
              <a:pathLst>
                <a:path h="731520" w="654985">
                  <a:moveTo>
                    <a:pt x="0" y="0"/>
                  </a:moveTo>
                  <a:lnTo>
                    <a:pt x="654985" y="0"/>
                  </a:lnTo>
                  <a:lnTo>
                    <a:pt x="654985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8294584" y="2354580"/>
            <a:ext cx="12131263" cy="1335157"/>
            <a:chOff x="0" y="0"/>
            <a:chExt cx="14400983" cy="15849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4400983" cy="1584960"/>
            </a:xfrm>
            <a:custGeom>
              <a:avLst/>
              <a:gdLst/>
              <a:ahLst/>
              <a:cxnLst/>
              <a:rect r="r" b="b" t="t" l="l"/>
              <a:pathLst>
                <a:path h="1584960" w="14400983">
                  <a:moveTo>
                    <a:pt x="0" y="0"/>
                  </a:moveTo>
                  <a:lnTo>
                    <a:pt x="14400983" y="0"/>
                  </a:lnTo>
                  <a:lnTo>
                    <a:pt x="14400983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868" r="3486" b="-12086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14400983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1E5F7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魂（Soul）</a:t>
              </a:r>
              <a:r>
                <a:rPr lang="en-US" b="true" sz="2899" i="true">
                  <a:solidFill>
                    <a:srgbClr val="6B6B6B"/>
                  </a:solidFill>
                  <a:latin typeface="Arimo Bold Italics"/>
                  <a:ea typeface="Arimo Bold Italics"/>
                  <a:cs typeface="Arimo Bold Italics"/>
                  <a:sym typeface="Arimo Bold Italics"/>
                </a:rPr>
                <a:t>  模倣困難度 ★★★★★</a:t>
              </a:r>
            </a:p>
            <a:p>
              <a:pPr algn="l">
                <a:lnSpc>
                  <a:spcPts val="3959"/>
                </a:lnSpc>
              </a:pPr>
              <a:r>
                <a:rPr lang="en-US" sz="3299" b="true">
                  <a:solidFill>
                    <a:srgbClr val="2A2A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存在理由・創設者の理念・倫理観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423587" y="4100554"/>
            <a:ext cx="551753" cy="616226"/>
            <a:chOff x="0" y="0"/>
            <a:chExt cx="654985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54985" cy="731520"/>
            </a:xfrm>
            <a:custGeom>
              <a:avLst/>
              <a:gdLst/>
              <a:ahLst/>
              <a:cxnLst/>
              <a:rect r="r" b="b" t="t" l="l"/>
              <a:pathLst>
                <a:path h="731520" w="654985">
                  <a:moveTo>
                    <a:pt x="0" y="0"/>
                  </a:moveTo>
                  <a:lnTo>
                    <a:pt x="654985" y="0"/>
                  </a:lnTo>
                  <a:lnTo>
                    <a:pt x="654985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E27D60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8294584" y="3792441"/>
            <a:ext cx="12131263" cy="1335157"/>
            <a:chOff x="0" y="0"/>
            <a:chExt cx="14400983" cy="15849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4400983" cy="1584960"/>
            </a:xfrm>
            <a:custGeom>
              <a:avLst/>
              <a:gdLst/>
              <a:ahLst/>
              <a:cxnLst/>
              <a:rect r="r" b="b" t="t" l="l"/>
              <a:pathLst>
                <a:path h="1584960" w="14400983">
                  <a:moveTo>
                    <a:pt x="0" y="0"/>
                  </a:moveTo>
                  <a:lnTo>
                    <a:pt x="14400983" y="0"/>
                  </a:lnTo>
                  <a:lnTo>
                    <a:pt x="14400983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868" r="3486" b="-120868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14400983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1E5F7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心（Heart）</a:t>
              </a:r>
              <a:r>
                <a:rPr lang="en-US" sz="2899" i="true">
                  <a:solidFill>
                    <a:srgbClr val="6B6B6B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  模倣困難度 ★★★★★</a:t>
              </a:r>
            </a:p>
            <a:p>
              <a:pPr algn="l">
                <a:lnSpc>
                  <a:spcPts val="3959"/>
                </a:lnSpc>
              </a:pPr>
              <a:r>
                <a:rPr lang="en-US" sz="3299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コミュニティ文化・暗黙のルール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7423587" y="5538415"/>
            <a:ext cx="551753" cy="616226"/>
            <a:chOff x="0" y="0"/>
            <a:chExt cx="654985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54985" cy="731520"/>
            </a:xfrm>
            <a:custGeom>
              <a:avLst/>
              <a:gdLst/>
              <a:ahLst/>
              <a:cxnLst/>
              <a:rect r="r" b="b" t="t" l="l"/>
              <a:pathLst>
                <a:path h="731520" w="654985">
                  <a:moveTo>
                    <a:pt x="0" y="0"/>
                  </a:moveTo>
                  <a:lnTo>
                    <a:pt x="654985" y="0"/>
                  </a:lnTo>
                  <a:lnTo>
                    <a:pt x="654985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E8B04B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8294584" y="5230302"/>
            <a:ext cx="12131263" cy="1335157"/>
            <a:chOff x="0" y="0"/>
            <a:chExt cx="14400983" cy="15849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4400983" cy="1584960"/>
            </a:xfrm>
            <a:custGeom>
              <a:avLst/>
              <a:gdLst/>
              <a:ahLst/>
              <a:cxnLst/>
              <a:rect r="r" b="b" t="t" l="l"/>
              <a:pathLst>
                <a:path h="1584960" w="14400983">
                  <a:moveTo>
                    <a:pt x="0" y="0"/>
                  </a:moveTo>
                  <a:lnTo>
                    <a:pt x="14400983" y="0"/>
                  </a:lnTo>
                  <a:lnTo>
                    <a:pt x="14400983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868" r="3486" b="-12086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14400983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1E5F7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記憶（Memory）</a:t>
              </a:r>
              <a:r>
                <a:rPr lang="en-US" sz="2899" i="true">
                  <a:solidFill>
                    <a:srgbClr val="6B6B6B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  模倣困難度 ★★★★</a:t>
              </a:r>
            </a:p>
            <a:p>
              <a:pPr algn="l">
                <a:lnSpc>
                  <a:spcPts val="3959"/>
                </a:lnSpc>
              </a:pPr>
              <a:r>
                <a:rPr lang="en-US" sz="3299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創設物語・歴史的転換点・集合的記憶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423587" y="6976276"/>
            <a:ext cx="551753" cy="616226"/>
            <a:chOff x="0" y="0"/>
            <a:chExt cx="654985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54985" cy="731520"/>
            </a:xfrm>
            <a:custGeom>
              <a:avLst/>
              <a:gdLst/>
              <a:ahLst/>
              <a:cxnLst/>
              <a:rect r="r" b="b" t="t" l="l"/>
              <a:pathLst>
                <a:path h="731520" w="654985">
                  <a:moveTo>
                    <a:pt x="0" y="0"/>
                  </a:moveTo>
                  <a:lnTo>
                    <a:pt x="654985" y="0"/>
                  </a:lnTo>
                  <a:lnTo>
                    <a:pt x="654985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4A8A9D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8294584" y="6668163"/>
            <a:ext cx="12131263" cy="1335157"/>
            <a:chOff x="0" y="0"/>
            <a:chExt cx="14400983" cy="158496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4400983" cy="1584960"/>
            </a:xfrm>
            <a:custGeom>
              <a:avLst/>
              <a:gdLst/>
              <a:ahLst/>
              <a:cxnLst/>
              <a:rect r="r" b="b" t="t" l="l"/>
              <a:pathLst>
                <a:path h="1584960" w="14400983">
                  <a:moveTo>
                    <a:pt x="0" y="0"/>
                  </a:moveTo>
                  <a:lnTo>
                    <a:pt x="14400983" y="0"/>
                  </a:lnTo>
                  <a:lnTo>
                    <a:pt x="14400983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868" r="3486" b="-120868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14400983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1E5F7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五感（Senses）</a:t>
              </a:r>
              <a:r>
                <a:rPr lang="en-US" sz="3499" i="true">
                  <a:solidFill>
                    <a:srgbClr val="6B6B6B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  模倣困難度 ★★</a:t>
              </a:r>
            </a:p>
            <a:p>
              <a:pPr algn="l">
                <a:lnSpc>
                  <a:spcPts val="3959"/>
                </a:lnSpc>
              </a:pPr>
              <a:r>
                <a:rPr lang="en-US" sz="3299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空間の雰囲気・感性的体験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7423587" y="8414137"/>
            <a:ext cx="551753" cy="616226"/>
            <a:chOff x="0" y="0"/>
            <a:chExt cx="654985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54985" cy="731520"/>
            </a:xfrm>
            <a:custGeom>
              <a:avLst/>
              <a:gdLst/>
              <a:ahLst/>
              <a:cxnLst/>
              <a:rect r="r" b="b" t="t" l="l"/>
              <a:pathLst>
                <a:path h="731520" w="654985">
                  <a:moveTo>
                    <a:pt x="0" y="0"/>
                  </a:moveTo>
                  <a:lnTo>
                    <a:pt x="654985" y="0"/>
                  </a:lnTo>
                  <a:lnTo>
                    <a:pt x="654985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E5F74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8294584" y="8106023"/>
            <a:ext cx="12131263" cy="1335157"/>
            <a:chOff x="0" y="0"/>
            <a:chExt cx="14400983" cy="158496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4400983" cy="1584960"/>
            </a:xfrm>
            <a:custGeom>
              <a:avLst/>
              <a:gdLst/>
              <a:ahLst/>
              <a:cxnLst/>
              <a:rect r="r" b="b" t="t" l="l"/>
              <a:pathLst>
                <a:path h="1584960" w="14400983">
                  <a:moveTo>
                    <a:pt x="0" y="0"/>
                  </a:moveTo>
                  <a:lnTo>
                    <a:pt x="14400983" y="0"/>
                  </a:lnTo>
                  <a:lnTo>
                    <a:pt x="14400983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868" r="3486" b="-120868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14400983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1E5F7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身体（Body）</a:t>
              </a:r>
              <a:r>
                <a:rPr lang="en-US" sz="2899" i="true">
                  <a:solidFill>
                    <a:srgbClr val="6B6B6B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  模倣困難度 ★</a:t>
              </a:r>
            </a:p>
            <a:p>
              <a:pPr algn="l">
                <a:lnSpc>
                  <a:spcPts val="3959"/>
                </a:lnSpc>
              </a:pPr>
              <a:r>
                <a:rPr lang="en-US" sz="3299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法規・仕様・安全・権限（現実制約）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80160" y="2256384"/>
            <a:ext cx="4572000" cy="486816"/>
            <a:chOff x="0" y="0"/>
            <a:chExt cx="6096000" cy="64908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096000" cy="649088"/>
            </a:xfrm>
            <a:custGeom>
              <a:avLst/>
              <a:gdLst/>
              <a:ahLst/>
              <a:cxnLst/>
              <a:rect r="r" b="b" t="t" l="l"/>
              <a:pathLst>
                <a:path h="64908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49088"/>
                  </a:lnTo>
                  <a:lnTo>
                    <a:pt x="0" y="6490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6038" r="0" b="-129954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6096000" cy="6586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D67D3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↑ 上位層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80160" y="9235440"/>
            <a:ext cx="4572000" cy="457200"/>
            <a:chOff x="0" y="0"/>
            <a:chExt cx="6096000" cy="6096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0960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19050"/>
              <a:ext cx="60960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sz="2099" b="true">
                  <a:solidFill>
                    <a:srgbClr val="1E5F7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↓ 下位層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0" y="9912096"/>
            <a:ext cx="18288000" cy="73152"/>
            <a:chOff x="0" y="0"/>
            <a:chExt cx="24384000" cy="9753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4384000" cy="97536"/>
            </a:xfrm>
            <a:custGeom>
              <a:avLst/>
              <a:gdLst/>
              <a:ahLst/>
              <a:cxnLst/>
              <a:rect r="r" b="b" t="t" l="l"/>
              <a:pathLst>
                <a:path h="9753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6459200" y="9509760"/>
            <a:ext cx="1645920" cy="457200"/>
            <a:chOff x="0" y="0"/>
            <a:chExt cx="2194560" cy="6096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19456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219456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6B6B6B"/>
                  </a:solidFill>
                  <a:latin typeface="Georgia"/>
                  <a:ea typeface="Georgia"/>
                  <a:cs typeface="Georgia"/>
                  <a:sym typeface="Georgia"/>
                </a:rPr>
                <a:t>5 / 15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731520" y="9509760"/>
            <a:ext cx="5486400" cy="457200"/>
            <a:chOff x="0" y="0"/>
            <a:chExt cx="7315200" cy="6096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73152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6B6B"/>
                  </a:solidFill>
                  <a:latin typeface="Arimo"/>
                  <a:ea typeface="Arimo"/>
                  <a:cs typeface="Arimo"/>
                  <a:sym typeface="Arimo"/>
                </a:rPr>
                <a:t>発表：もみやま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6400800" y="9509760"/>
            <a:ext cx="10058400" cy="457200"/>
            <a:chOff x="0" y="0"/>
            <a:chExt cx="13411200" cy="6096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3411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134112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B6B6B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ビル格 — Building Personality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822960"/>
            <a:ext cx="146304" cy="1280160"/>
            <a:chOff x="0" y="0"/>
            <a:chExt cx="195072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8720" y="731520"/>
            <a:ext cx="16093440" cy="1005840"/>
            <a:chOff x="0" y="0"/>
            <a:chExt cx="214579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45792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E5F7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魂・心と一次情報の重要性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88720" y="1737360"/>
            <a:ext cx="16093440" cy="548640"/>
            <a:chOff x="0" y="0"/>
            <a:chExt cx="2145792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4579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D67D3E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Why Primary Information Matters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273914" y="3311289"/>
            <a:ext cx="4122057" cy="1030514"/>
            <a:chOff x="0" y="0"/>
            <a:chExt cx="4876800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76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273914" y="3311289"/>
            <a:ext cx="4122057" cy="1030514"/>
            <a:chOff x="0" y="0"/>
            <a:chExt cx="4876800" cy="1219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76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48768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魂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861708" y="4341803"/>
            <a:ext cx="4946469" cy="1030514"/>
            <a:chOff x="0" y="0"/>
            <a:chExt cx="5852160" cy="1219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8521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27D6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861708" y="4341803"/>
            <a:ext cx="4946469" cy="1030514"/>
            <a:chOff x="0" y="0"/>
            <a:chExt cx="585216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8521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585216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心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49503" y="5372318"/>
            <a:ext cx="5770880" cy="1030514"/>
            <a:chOff x="0" y="0"/>
            <a:chExt cx="6827520" cy="121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27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8B04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49503" y="5372318"/>
            <a:ext cx="5770880" cy="1030514"/>
            <a:chOff x="0" y="0"/>
            <a:chExt cx="6827520" cy="1219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27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682752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記憶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37297" y="6402832"/>
            <a:ext cx="6595291" cy="1030514"/>
            <a:chOff x="0" y="0"/>
            <a:chExt cx="7802880" cy="1219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802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4A8A9D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37297" y="6402832"/>
            <a:ext cx="6595291" cy="1030514"/>
            <a:chOff x="0" y="0"/>
            <a:chExt cx="7802880" cy="1219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802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704" r="0" b="-7470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780288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五感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25091" y="7433346"/>
            <a:ext cx="7419703" cy="1030514"/>
            <a:chOff x="0" y="0"/>
            <a:chExt cx="8778240" cy="121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7782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E5F74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25091" y="7433346"/>
            <a:ext cx="7419703" cy="1030514"/>
            <a:chOff x="0" y="0"/>
            <a:chExt cx="8778240" cy="1219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7782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877824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身体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31194" y="2651760"/>
            <a:ext cx="7007497" cy="577088"/>
            <a:chOff x="0" y="0"/>
            <a:chExt cx="8290560" cy="6827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290560" cy="682752"/>
            </a:xfrm>
            <a:custGeom>
              <a:avLst/>
              <a:gdLst/>
              <a:ahLst/>
              <a:cxnLst/>
              <a:rect r="r" b="b" t="t" l="l"/>
              <a:pathLst>
                <a:path h="682752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6604" r="0" b="-18660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829056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D67D3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↑ 一次情報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31194" y="8566912"/>
            <a:ext cx="7007497" cy="577088"/>
            <a:chOff x="0" y="0"/>
            <a:chExt cx="8290560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90560" cy="682752"/>
            </a:xfrm>
            <a:custGeom>
              <a:avLst/>
              <a:gdLst/>
              <a:ahLst/>
              <a:cxnLst/>
              <a:rect r="r" b="b" t="t" l="l"/>
              <a:pathLst>
                <a:path h="682752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6604" r="0" b="-18660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829056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E5F7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↓ 公開情報（誰でもアクセス可能）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124950" y="2724150"/>
            <a:ext cx="8450580" cy="2964180"/>
            <a:chOff x="0" y="0"/>
            <a:chExt cx="11267440" cy="39522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267440" cy="3952240"/>
            </a:xfrm>
            <a:custGeom>
              <a:avLst/>
              <a:gdLst/>
              <a:ahLst/>
              <a:cxnLst/>
              <a:rect r="r" b="b" t="t" l="l"/>
              <a:pathLst>
                <a:path h="3952240" w="11267440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11069828" y="0"/>
                  </a:lnTo>
                  <a:cubicBezTo>
                    <a:pt x="11178922" y="0"/>
                    <a:pt x="11267440" y="88519"/>
                    <a:pt x="11267440" y="197612"/>
                  </a:cubicBezTo>
                  <a:lnTo>
                    <a:pt x="11267440" y="3754628"/>
                  </a:lnTo>
                  <a:cubicBezTo>
                    <a:pt x="11267440" y="3863721"/>
                    <a:pt x="11178922" y="3952240"/>
                    <a:pt x="11069828" y="3952240"/>
                  </a:cubicBezTo>
                  <a:lnTo>
                    <a:pt x="197612" y="3952240"/>
                  </a:lnTo>
                  <a:cubicBezTo>
                    <a:pt x="88519" y="3952240"/>
                    <a:pt x="0" y="3863721"/>
                    <a:pt x="0" y="3754628"/>
                  </a:cubicBezTo>
                  <a:close/>
                </a:path>
              </a:pathLst>
            </a:custGeom>
            <a:solidFill>
              <a:srgbClr val="FFFCF5"/>
            </a:solidFill>
            <a:ln w="38100" cap="sq">
              <a:solidFill>
                <a:srgbClr val="D67D3E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9509760" y="3017520"/>
            <a:ext cx="7680960" cy="914400"/>
            <a:chOff x="0" y="0"/>
            <a:chExt cx="10241280" cy="1219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241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1024128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2A2A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差別化は 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509760" y="3749040"/>
            <a:ext cx="7680960" cy="1828800"/>
            <a:chOff x="0" y="0"/>
            <a:chExt cx="10241280" cy="2438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2412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10241280" cy="2457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D67D3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上位2階層（魂・心）</a:t>
              </a:r>
            </a:p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に宿る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144000" y="6035040"/>
            <a:ext cx="8412480" cy="3291840"/>
            <a:chOff x="0" y="0"/>
            <a:chExt cx="11216640" cy="43891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216640" cy="4389120"/>
            </a:xfrm>
            <a:custGeom>
              <a:avLst/>
              <a:gdLst/>
              <a:ahLst/>
              <a:cxnLst/>
              <a:rect r="r" b="b" t="t" l="l"/>
              <a:pathLst>
                <a:path h="4389120" w="1121664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1021568" y="0"/>
                  </a:lnTo>
                  <a:cubicBezTo>
                    <a:pt x="11129264" y="0"/>
                    <a:pt x="11216640" y="87376"/>
                    <a:pt x="11216640" y="195072"/>
                  </a:cubicBezTo>
                  <a:lnTo>
                    <a:pt x="11216640" y="4194048"/>
                  </a:lnTo>
                  <a:cubicBezTo>
                    <a:pt x="11216640" y="4301744"/>
                    <a:pt x="11129264" y="4389120"/>
                    <a:pt x="11021568" y="4389120"/>
                  </a:cubicBezTo>
                  <a:lnTo>
                    <a:pt x="195072" y="4389120"/>
                  </a:lnTo>
                  <a:cubicBezTo>
                    <a:pt x="87376" y="4389120"/>
                    <a:pt x="0" y="4301744"/>
                    <a:pt x="0" y="4194048"/>
                  </a:cubicBezTo>
                  <a:close/>
                </a:path>
              </a:pathLst>
            </a:custGeom>
            <a:solidFill>
              <a:srgbClr val="1E5F74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509760" y="6217920"/>
            <a:ext cx="2194560" cy="640080"/>
            <a:chOff x="0" y="0"/>
            <a:chExt cx="2926080" cy="8534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926080" cy="853440"/>
            </a:xfrm>
            <a:custGeom>
              <a:avLst/>
              <a:gdLst/>
              <a:ahLst/>
              <a:cxnLst/>
              <a:rect r="r" b="b" t="t" l="l"/>
              <a:pathLst>
                <a:path h="8534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292608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1000">
                  <a:solidFill>
                    <a:srgbClr val="E8B0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WHY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509760" y="6858000"/>
            <a:ext cx="7863840" cy="2377440"/>
            <a:chOff x="0" y="0"/>
            <a:chExt cx="10485120" cy="31699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48512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10485120" cy="3179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● その建物だけの </a:t>
              </a:r>
              <a:r>
                <a:rPr lang="en-US" sz="2400" b="true">
                  <a:solidFill>
                    <a:srgbClr val="E8B04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歴史と文脈</a:t>
              </a:r>
              <a:r>
                <a:rPr lang="en-US" sz="2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の中に存在し、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● 公的なデータベースには </a:t>
              </a:r>
              <a:r>
                <a:rPr lang="en-US" sz="2400" b="true">
                  <a:solidFill>
                    <a:srgbClr val="E8B04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記録されていない</a:t>
              </a:r>
              <a:r>
                <a:rPr lang="en-US" sz="2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ため。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CF5"/>
                  </a:solidFill>
                  <a:latin typeface="Arimo"/>
                  <a:ea typeface="Arimo"/>
                  <a:cs typeface="Arimo"/>
                  <a:sym typeface="Arimo"/>
                </a:rPr>
                <a:t>→ 模倣困難な </a:t>
              </a:r>
              <a:r>
                <a:rPr lang="en-US" sz="2400" b="true">
                  <a:solidFill>
                    <a:srgbClr val="E8B04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ブランド資産</a:t>
              </a:r>
              <a:r>
                <a:rPr lang="en-US" sz="2400">
                  <a:solidFill>
                    <a:srgbClr val="FFFCF5"/>
                  </a:solidFill>
                  <a:latin typeface="Arimo"/>
                  <a:ea typeface="Arimo"/>
                  <a:cs typeface="Arimo"/>
                  <a:sym typeface="Arimo"/>
                </a:rPr>
                <a:t> になり得る。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0" y="9912096"/>
            <a:ext cx="18288000" cy="73152"/>
            <a:chOff x="0" y="0"/>
            <a:chExt cx="24384000" cy="9753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4384000" cy="97536"/>
            </a:xfrm>
            <a:custGeom>
              <a:avLst/>
              <a:gdLst/>
              <a:ahLst/>
              <a:cxnLst/>
              <a:rect r="r" b="b" t="t" l="l"/>
              <a:pathLst>
                <a:path h="9753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6459200" y="9509760"/>
            <a:ext cx="1645920" cy="457200"/>
            <a:chOff x="0" y="0"/>
            <a:chExt cx="2194560" cy="6096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9456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219456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6B6B6B"/>
                  </a:solidFill>
                  <a:latin typeface="Georgia"/>
                  <a:ea typeface="Georgia"/>
                  <a:cs typeface="Georgia"/>
                  <a:sym typeface="Georgia"/>
                </a:rPr>
                <a:t>6 / 15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31520" y="9509760"/>
            <a:ext cx="5486400" cy="457200"/>
            <a:chOff x="0" y="0"/>
            <a:chExt cx="7315200" cy="6096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73152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6B6B"/>
                  </a:solidFill>
                  <a:latin typeface="Arimo"/>
                  <a:ea typeface="Arimo"/>
                  <a:cs typeface="Arimo"/>
                  <a:sym typeface="Arimo"/>
                </a:rPr>
                <a:t>発表：もみやま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400800" y="9509760"/>
            <a:ext cx="10058400" cy="457200"/>
            <a:chOff x="0" y="0"/>
            <a:chExt cx="13411200" cy="6096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3411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134112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B6B6B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ビル格 — Building Personality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822960"/>
            <a:ext cx="146304" cy="1280160"/>
            <a:chOff x="0" y="0"/>
            <a:chExt cx="195072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8720" y="731520"/>
            <a:ext cx="16093440" cy="1005840"/>
            <a:chOff x="0" y="0"/>
            <a:chExt cx="214579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45792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E5F7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冷泉荘のビル格化プロセス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88720" y="1737360"/>
            <a:ext cx="16093440" cy="548640"/>
            <a:chOff x="0" y="0"/>
            <a:chExt cx="2145792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4579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D67D3E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Personification Process: Layer × Source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743200"/>
            <a:ext cx="16459200" cy="731520"/>
            <a:chOff x="0" y="0"/>
            <a:chExt cx="2194560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E5F7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7280" y="2743200"/>
            <a:ext cx="2560320" cy="731520"/>
            <a:chOff x="0" y="0"/>
            <a:chExt cx="3413760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13760" cy="975360"/>
            </a:xfrm>
            <a:custGeom>
              <a:avLst/>
              <a:gdLst/>
              <a:ahLst/>
              <a:cxnLst/>
              <a:rect r="r" b="b" t="t" l="l"/>
              <a:pathLst>
                <a:path h="97536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34137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600">
                  <a:solidFill>
                    <a:srgbClr val="E8B04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階層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657600" y="2743200"/>
            <a:ext cx="5486400" cy="731520"/>
            <a:chOff x="0" y="0"/>
            <a:chExt cx="7315200" cy="975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0" cy="975360"/>
            </a:xfrm>
            <a:custGeom>
              <a:avLst/>
              <a:gdLst/>
              <a:ahLst/>
              <a:cxnLst/>
              <a:rect r="r" b="b" t="t" l="l"/>
              <a:pathLst>
                <a:path h="975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731520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600">
                  <a:solidFill>
                    <a:srgbClr val="E8B04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情報ソース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44000" y="2743200"/>
            <a:ext cx="8046720" cy="731520"/>
            <a:chOff x="0" y="0"/>
            <a:chExt cx="10728960" cy="975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28960" cy="975360"/>
            </a:xfrm>
            <a:custGeom>
              <a:avLst/>
              <a:gdLst/>
              <a:ahLst/>
              <a:cxnLst/>
              <a:rect r="r" b="b" t="t" l="l"/>
              <a:pathLst>
                <a:path h="9753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107289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600">
                  <a:solidFill>
                    <a:srgbClr val="E8B04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手法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4400" y="3566160"/>
            <a:ext cx="16459200" cy="822960"/>
            <a:chOff x="0" y="0"/>
            <a:chExt cx="2194560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FFCF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88720" y="3694176"/>
            <a:ext cx="1097280" cy="548640"/>
            <a:chOff x="0" y="0"/>
            <a:chExt cx="146304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3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88720" y="3694176"/>
            <a:ext cx="1097280" cy="548640"/>
            <a:chOff x="0" y="0"/>
            <a:chExt cx="146304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3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4630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魂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657600" y="3566160"/>
            <a:ext cx="5486400" cy="822960"/>
            <a:chOff x="0" y="0"/>
            <a:chExt cx="7315200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1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73152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オーナー吉原氏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144000" y="3566160"/>
            <a:ext cx="8046720" cy="822960"/>
            <a:chOff x="0" y="0"/>
            <a:chExt cx="10728960" cy="10972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728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520" r="0" b="-14052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072896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B6B6B"/>
                  </a:solidFill>
                  <a:latin typeface="Arimo"/>
                  <a:ea typeface="Arimo"/>
                  <a:cs typeface="Arimo"/>
                  <a:sym typeface="Arimo"/>
                </a:rPr>
                <a:t>深層インタビュー（理念・倫理観・禁則）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88720" y="4517136"/>
            <a:ext cx="1097280" cy="548640"/>
            <a:chOff x="0" y="0"/>
            <a:chExt cx="146304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63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E27D6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88720" y="4517136"/>
            <a:ext cx="1097280" cy="548640"/>
            <a:chOff x="0" y="0"/>
            <a:chExt cx="146304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63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4630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心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657600" y="4389120"/>
            <a:ext cx="5486400" cy="822960"/>
            <a:chOff x="0" y="0"/>
            <a:chExt cx="7315200" cy="1097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1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73152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常駐管理人 杉山氏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144000" y="4389120"/>
            <a:ext cx="8046720" cy="822960"/>
            <a:chOff x="0" y="0"/>
            <a:chExt cx="10728960" cy="10972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728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520" r="0" b="-14052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1072896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B6B6B"/>
                  </a:solidFill>
                  <a:latin typeface="Arimo"/>
                  <a:ea typeface="Arimo"/>
                  <a:cs typeface="Arimo"/>
                  <a:sym typeface="Arimo"/>
                </a:rPr>
                <a:t>暗黙知・運用ルールの言語化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14400" y="5212080"/>
            <a:ext cx="16459200" cy="822960"/>
            <a:chOff x="0" y="0"/>
            <a:chExt cx="21945600" cy="10972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FFCF5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88720" y="5340096"/>
            <a:ext cx="1097280" cy="548640"/>
            <a:chOff x="0" y="0"/>
            <a:chExt cx="146304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463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E8B04B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88720" y="5340096"/>
            <a:ext cx="1097280" cy="548640"/>
            <a:chOff x="0" y="0"/>
            <a:chExt cx="146304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463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14630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記憶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3657600" y="5212080"/>
            <a:ext cx="5486400" cy="822960"/>
            <a:chOff x="0" y="0"/>
            <a:chExt cx="7315200" cy="10972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1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73152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長期入居者・アーカイブ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144000" y="5212080"/>
            <a:ext cx="8046720" cy="822960"/>
            <a:chOff x="0" y="0"/>
            <a:chExt cx="10728960" cy="10972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728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520" r="0" b="-14052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1072896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B6B6B"/>
                  </a:solidFill>
                  <a:latin typeface="Arimo"/>
                  <a:ea typeface="Arimo"/>
                  <a:cs typeface="Arimo"/>
                  <a:sym typeface="Arimo"/>
                </a:rPr>
                <a:t>歴史的転換点・集合的記憶の収集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88720" y="6163056"/>
            <a:ext cx="1097280" cy="548640"/>
            <a:chOff x="0" y="0"/>
            <a:chExt cx="1463040" cy="7315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463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4A8A9D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88720" y="6163056"/>
            <a:ext cx="1097280" cy="548640"/>
            <a:chOff x="0" y="0"/>
            <a:chExt cx="1463040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463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14630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五感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3657600" y="6035040"/>
            <a:ext cx="5486400" cy="822960"/>
            <a:chOff x="0" y="0"/>
            <a:chExt cx="7315200" cy="10972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31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73152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現地調査・利用者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144000" y="6035040"/>
            <a:ext cx="8046720" cy="822960"/>
            <a:chOff x="0" y="0"/>
            <a:chExt cx="10728960" cy="10972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728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520" r="0" b="-14052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1072896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B6B6B"/>
                  </a:solidFill>
                  <a:latin typeface="Arimo"/>
                  <a:ea typeface="Arimo"/>
                  <a:cs typeface="Arimo"/>
                  <a:sym typeface="Arimo"/>
                </a:rPr>
                <a:t>空間の雰囲気・感性表現の抽出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14400" y="6858000"/>
            <a:ext cx="16459200" cy="822960"/>
            <a:chOff x="0" y="0"/>
            <a:chExt cx="21945600" cy="10972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FFCF5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188720" y="6986016"/>
            <a:ext cx="1097280" cy="548640"/>
            <a:chOff x="0" y="0"/>
            <a:chExt cx="146304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463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E5F74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188720" y="6986016"/>
            <a:ext cx="1097280" cy="548640"/>
            <a:chOff x="0" y="0"/>
            <a:chExt cx="1463040" cy="7315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463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14630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身体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3657600" y="6858000"/>
            <a:ext cx="5486400" cy="822960"/>
            <a:chOff x="0" y="0"/>
            <a:chExt cx="7315200" cy="10972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31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73152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図面・法規・公開資料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144000" y="6858000"/>
            <a:ext cx="8046720" cy="822960"/>
            <a:chOff x="0" y="0"/>
            <a:chExt cx="10728960" cy="109728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728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520" r="0" b="-14052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1072896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B6B6B"/>
                  </a:solidFill>
                  <a:latin typeface="Arimo"/>
                  <a:ea typeface="Arimo"/>
                  <a:cs typeface="Arimo"/>
                  <a:sym typeface="Arimo"/>
                </a:rPr>
                <a:t>公的データの整理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01703" y="8034023"/>
            <a:ext cx="16484603" cy="1397003"/>
            <a:chOff x="0" y="0"/>
            <a:chExt cx="21979471" cy="186267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1979510" cy="1862709"/>
            </a:xfrm>
            <a:custGeom>
              <a:avLst/>
              <a:gdLst/>
              <a:ahLst/>
              <a:cxnLst/>
              <a:rect r="r" b="b" t="t" l="l"/>
              <a:pathLst>
                <a:path h="1862709" w="21979510">
                  <a:moveTo>
                    <a:pt x="0" y="124206"/>
                  </a:moveTo>
                  <a:cubicBezTo>
                    <a:pt x="0" y="55626"/>
                    <a:pt x="55626" y="0"/>
                    <a:pt x="124206" y="0"/>
                  </a:cubicBezTo>
                  <a:lnTo>
                    <a:pt x="21855303" y="0"/>
                  </a:lnTo>
                  <a:cubicBezTo>
                    <a:pt x="21923883" y="0"/>
                    <a:pt x="21979510" y="55626"/>
                    <a:pt x="21979510" y="124206"/>
                  </a:cubicBezTo>
                  <a:lnTo>
                    <a:pt x="21979510" y="1738503"/>
                  </a:lnTo>
                  <a:cubicBezTo>
                    <a:pt x="21979510" y="1807083"/>
                    <a:pt x="21923883" y="1862709"/>
                    <a:pt x="21855303" y="1862709"/>
                  </a:cubicBezTo>
                  <a:lnTo>
                    <a:pt x="124206" y="1862709"/>
                  </a:lnTo>
                  <a:cubicBezTo>
                    <a:pt x="55626" y="1862709"/>
                    <a:pt x="0" y="1807083"/>
                    <a:pt x="0" y="1738503"/>
                  </a:cubicBezTo>
                  <a:close/>
                </a:path>
              </a:pathLst>
            </a:custGeom>
            <a:solidFill>
              <a:srgbClr val="D67D3E">
                <a:alpha val="1176"/>
              </a:srgbClr>
            </a:solidFill>
            <a:ln w="25400" cap="sq">
              <a:solidFill>
                <a:srgbClr val="D67D3E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1280160" y="8138160"/>
            <a:ext cx="15727680" cy="1188720"/>
            <a:chOff x="0" y="0"/>
            <a:chExt cx="20970240" cy="158496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0970239" cy="1584960"/>
            </a:xfrm>
            <a:custGeom>
              <a:avLst/>
              <a:gdLst/>
              <a:ahLst/>
              <a:cxnLst/>
              <a:rect r="r" b="b" t="t" l="l"/>
              <a:pathLst>
                <a:path h="158496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802" r="0" b="-207802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9525"/>
              <a:ext cx="2097024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D67D3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編集パイプライン：</a:t>
              </a:r>
              <a:r>
                <a:rPr lang="en-US" sz="24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  憲法条文 → 例外規定 → 裁定フロー → 意思決定ログ → 語彙集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0" y="9912096"/>
            <a:ext cx="18288000" cy="73152"/>
            <a:chOff x="0" y="0"/>
            <a:chExt cx="24384000" cy="975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4384000" cy="97536"/>
            </a:xfrm>
            <a:custGeom>
              <a:avLst/>
              <a:gdLst/>
              <a:ahLst/>
              <a:cxnLst/>
              <a:rect r="r" b="b" t="t" l="l"/>
              <a:pathLst>
                <a:path h="9753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6459200" y="9509760"/>
            <a:ext cx="1645920" cy="457200"/>
            <a:chOff x="0" y="0"/>
            <a:chExt cx="2194560" cy="6096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19456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9525"/>
              <a:ext cx="219456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6B6B6B"/>
                  </a:solidFill>
                  <a:latin typeface="Georgia"/>
                  <a:ea typeface="Georgia"/>
                  <a:cs typeface="Georgia"/>
                  <a:sym typeface="Georgia"/>
                </a:rPr>
                <a:t>8 / 15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731520" y="9509760"/>
            <a:ext cx="5486400" cy="457200"/>
            <a:chOff x="0" y="0"/>
            <a:chExt cx="7315200" cy="6096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19050"/>
              <a:ext cx="73152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6B6B"/>
                  </a:solidFill>
                  <a:latin typeface="Arimo"/>
                  <a:ea typeface="Arimo"/>
                  <a:cs typeface="Arimo"/>
                  <a:sym typeface="Arimo"/>
                </a:rPr>
                <a:t>発表：もみやま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6400800" y="9509760"/>
            <a:ext cx="10058400" cy="457200"/>
            <a:chOff x="0" y="0"/>
            <a:chExt cx="13411200" cy="6096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3411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134112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B6B6B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ビル格 — Building Personality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822960"/>
            <a:ext cx="146304" cy="1280160"/>
            <a:chOff x="0" y="0"/>
            <a:chExt cx="195072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8720" y="731520"/>
            <a:ext cx="16093440" cy="1005840"/>
            <a:chOff x="0" y="0"/>
            <a:chExt cx="214579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45792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E5F7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Before / After 比較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88720" y="1737360"/>
            <a:ext cx="16093440" cy="548640"/>
            <a:chOff x="0" y="0"/>
            <a:chExt cx="2145792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4579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D67D3E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Validating the Impact of Primary Information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743200"/>
            <a:ext cx="7863840" cy="4572000"/>
            <a:chOff x="0" y="0"/>
            <a:chExt cx="10485120" cy="609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85120" cy="6096000"/>
            </a:xfrm>
            <a:custGeom>
              <a:avLst/>
              <a:gdLst/>
              <a:ahLst/>
              <a:cxnLst/>
              <a:rect r="r" b="b" t="t" l="l"/>
              <a:pathLst>
                <a:path h="60960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E8DDC8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80160" y="3017520"/>
            <a:ext cx="7315200" cy="731520"/>
            <a:chOff x="0" y="0"/>
            <a:chExt cx="9753600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975360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 spc="1199">
                  <a:solidFill>
                    <a:srgbClr val="6B6B6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BEFORE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80160" y="3749040"/>
            <a:ext cx="7315200" cy="731520"/>
            <a:chOff x="0" y="0"/>
            <a:chExt cx="9753600" cy="975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9753600" cy="1003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E5F7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公開資料のみ（二次情報）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80160" y="4754880"/>
            <a:ext cx="7315200" cy="2377440"/>
            <a:chOff x="0" y="0"/>
            <a:chExt cx="9753600" cy="3169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7536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9753600" cy="3179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● ベースラインの建物AI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● 図面・法規・スペック情報</a:t>
              </a:r>
            </a:p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B6B6B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● 誰でも作れる、模倣容易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595360" y="4389120"/>
            <a:ext cx="1097280" cy="1280160"/>
            <a:chOff x="0" y="0"/>
            <a:chExt cx="1463040" cy="17068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9687" t="0" r="-99687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146304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D67D3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→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509760" y="2743200"/>
            <a:ext cx="7863840" cy="4572000"/>
            <a:chOff x="0" y="0"/>
            <a:chExt cx="10485120" cy="6096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85120" cy="6096000"/>
            </a:xfrm>
            <a:custGeom>
              <a:avLst/>
              <a:gdLst/>
              <a:ahLst/>
              <a:cxnLst/>
              <a:rect r="r" b="b" t="t" l="l"/>
              <a:pathLst>
                <a:path h="60960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1E5F7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875520" y="3017520"/>
            <a:ext cx="7315200" cy="731520"/>
            <a:chOff x="0" y="0"/>
            <a:chExt cx="9753600" cy="975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975360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 spc="1199">
                  <a:solidFill>
                    <a:srgbClr val="E8B0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AFTER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875520" y="3749040"/>
            <a:ext cx="7315200" cy="731520"/>
            <a:chOff x="0" y="0"/>
            <a:chExt cx="9753600" cy="975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9753600" cy="1003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一次情報を構造化編集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875520" y="4754880"/>
            <a:ext cx="7315200" cy="2377440"/>
            <a:chOff x="0" y="0"/>
            <a:chExt cx="9753600" cy="31699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7536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9753600" cy="3179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CF5"/>
                  </a:solidFill>
                  <a:latin typeface="Arimo"/>
                  <a:ea typeface="Arimo"/>
                  <a:cs typeface="Arimo"/>
                  <a:sym typeface="Arimo"/>
                </a:rPr>
                <a:t>● オーナー/管理人の理念・禁則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CF5"/>
                  </a:solidFill>
                  <a:latin typeface="Arimo"/>
                  <a:ea typeface="Arimo"/>
                  <a:cs typeface="Arimo"/>
                  <a:sym typeface="Arimo"/>
                </a:rPr>
                <a:t>● 憲法条文＋例外規定＋裁定フロー</a:t>
              </a: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8B04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● </a:t>
              </a:r>
              <a:r>
                <a:rPr lang="en-US" sz="2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杉山氏の判断基準を投入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4400" y="7589520"/>
            <a:ext cx="16459200" cy="512064"/>
            <a:chOff x="0" y="0"/>
            <a:chExt cx="21945600" cy="6827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2194560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D67D3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評価軸（共通質問セットで応答を比較）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01703" y="8216903"/>
            <a:ext cx="3225803" cy="939803"/>
            <a:chOff x="0" y="0"/>
            <a:chExt cx="4301071" cy="125307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301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4301109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4150741" y="0"/>
                  </a:lnTo>
                  <a:cubicBezTo>
                    <a:pt x="4233799" y="0"/>
                    <a:pt x="4301109" y="67310"/>
                    <a:pt x="4301109" y="150368"/>
                  </a:cubicBezTo>
                  <a:lnTo>
                    <a:pt x="4301109" y="1102741"/>
                  </a:lnTo>
                  <a:cubicBezTo>
                    <a:pt x="4301109" y="1185799"/>
                    <a:pt x="4233799" y="1253109"/>
                    <a:pt x="4150741" y="1253109"/>
                  </a:cubicBezTo>
                  <a:lnTo>
                    <a:pt x="150368" y="1253109"/>
                  </a:lnTo>
                  <a:cubicBezTo>
                    <a:pt x="67310" y="1253109"/>
                    <a:pt x="0" y="1185799"/>
                    <a:pt x="0" y="1102741"/>
                  </a:cubicBezTo>
                  <a:close/>
                </a:path>
              </a:pathLst>
            </a:custGeom>
            <a:solidFill>
              <a:srgbClr val="FFFCF5"/>
            </a:solidFill>
            <a:ln w="25400" cap="sq">
              <a:solidFill>
                <a:srgbClr val="D67D3E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14400" y="8229600"/>
            <a:ext cx="3200400" cy="914400"/>
            <a:chOff x="0" y="0"/>
            <a:chExt cx="4267200" cy="1219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426720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A2A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固有性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4284983" y="8216903"/>
            <a:ext cx="3225803" cy="939803"/>
            <a:chOff x="0" y="0"/>
            <a:chExt cx="4301071" cy="125307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301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4301109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4150741" y="0"/>
                  </a:lnTo>
                  <a:cubicBezTo>
                    <a:pt x="4233799" y="0"/>
                    <a:pt x="4301109" y="67310"/>
                    <a:pt x="4301109" y="150368"/>
                  </a:cubicBezTo>
                  <a:lnTo>
                    <a:pt x="4301109" y="1102741"/>
                  </a:lnTo>
                  <a:cubicBezTo>
                    <a:pt x="4301109" y="1185799"/>
                    <a:pt x="4233799" y="1253109"/>
                    <a:pt x="4150741" y="1253109"/>
                  </a:cubicBezTo>
                  <a:lnTo>
                    <a:pt x="150368" y="1253109"/>
                  </a:lnTo>
                  <a:cubicBezTo>
                    <a:pt x="67310" y="1253109"/>
                    <a:pt x="0" y="1185799"/>
                    <a:pt x="0" y="1102741"/>
                  </a:cubicBezTo>
                  <a:close/>
                </a:path>
              </a:pathLst>
            </a:custGeom>
            <a:solidFill>
              <a:srgbClr val="FFFCF5"/>
            </a:solidFill>
            <a:ln w="25400" cap="sq">
              <a:solidFill>
                <a:srgbClr val="D67D3E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4297680" y="8229600"/>
            <a:ext cx="3200400" cy="914400"/>
            <a:chOff x="0" y="0"/>
            <a:chExt cx="4267200" cy="1219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426720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A2A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一貫性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668263" y="8216903"/>
            <a:ext cx="3225803" cy="939803"/>
            <a:chOff x="0" y="0"/>
            <a:chExt cx="4301071" cy="125307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301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4301109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4150741" y="0"/>
                  </a:lnTo>
                  <a:cubicBezTo>
                    <a:pt x="4233799" y="0"/>
                    <a:pt x="4301109" y="67310"/>
                    <a:pt x="4301109" y="150368"/>
                  </a:cubicBezTo>
                  <a:lnTo>
                    <a:pt x="4301109" y="1102741"/>
                  </a:lnTo>
                  <a:cubicBezTo>
                    <a:pt x="4301109" y="1185799"/>
                    <a:pt x="4233799" y="1253109"/>
                    <a:pt x="4150741" y="1253109"/>
                  </a:cubicBezTo>
                  <a:lnTo>
                    <a:pt x="150368" y="1253109"/>
                  </a:lnTo>
                  <a:cubicBezTo>
                    <a:pt x="67310" y="1253109"/>
                    <a:pt x="0" y="1185799"/>
                    <a:pt x="0" y="1102741"/>
                  </a:cubicBezTo>
                  <a:close/>
                </a:path>
              </a:pathLst>
            </a:custGeom>
            <a:solidFill>
              <a:srgbClr val="FFFCF5"/>
            </a:solidFill>
            <a:ln w="25400" cap="sq">
              <a:solidFill>
                <a:srgbClr val="D67D3E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7680960" y="8229600"/>
            <a:ext cx="3200400" cy="914400"/>
            <a:chOff x="0" y="0"/>
            <a:chExt cx="4267200" cy="1219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426720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A2A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境界条件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051543" y="8216903"/>
            <a:ext cx="3225803" cy="939803"/>
            <a:chOff x="0" y="0"/>
            <a:chExt cx="4301071" cy="125307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301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4301109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4150741" y="0"/>
                  </a:lnTo>
                  <a:cubicBezTo>
                    <a:pt x="4233799" y="0"/>
                    <a:pt x="4301109" y="67310"/>
                    <a:pt x="4301109" y="150368"/>
                  </a:cubicBezTo>
                  <a:lnTo>
                    <a:pt x="4301109" y="1102741"/>
                  </a:lnTo>
                  <a:cubicBezTo>
                    <a:pt x="4301109" y="1185799"/>
                    <a:pt x="4233799" y="1253109"/>
                    <a:pt x="4150741" y="1253109"/>
                  </a:cubicBezTo>
                  <a:lnTo>
                    <a:pt x="150368" y="1253109"/>
                  </a:lnTo>
                  <a:cubicBezTo>
                    <a:pt x="67310" y="1253109"/>
                    <a:pt x="0" y="1185799"/>
                    <a:pt x="0" y="1102741"/>
                  </a:cubicBezTo>
                  <a:close/>
                </a:path>
              </a:pathLst>
            </a:custGeom>
            <a:solidFill>
              <a:srgbClr val="FFFCF5"/>
            </a:solidFill>
            <a:ln w="25400" cap="sq">
              <a:solidFill>
                <a:srgbClr val="D67D3E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1064240" y="8229600"/>
            <a:ext cx="3200400" cy="914400"/>
            <a:chOff x="0" y="0"/>
            <a:chExt cx="4267200" cy="12192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426720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A2A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根拠提示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4434823" y="8216903"/>
            <a:ext cx="3225803" cy="939803"/>
            <a:chOff x="0" y="0"/>
            <a:chExt cx="4301071" cy="125307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301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4301109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4150741" y="0"/>
                  </a:lnTo>
                  <a:cubicBezTo>
                    <a:pt x="4233799" y="0"/>
                    <a:pt x="4301109" y="67310"/>
                    <a:pt x="4301109" y="150368"/>
                  </a:cubicBezTo>
                  <a:lnTo>
                    <a:pt x="4301109" y="1102741"/>
                  </a:lnTo>
                  <a:cubicBezTo>
                    <a:pt x="4301109" y="1185799"/>
                    <a:pt x="4233799" y="1253109"/>
                    <a:pt x="4150741" y="1253109"/>
                  </a:cubicBezTo>
                  <a:lnTo>
                    <a:pt x="150368" y="1253109"/>
                  </a:lnTo>
                  <a:cubicBezTo>
                    <a:pt x="67310" y="1253109"/>
                    <a:pt x="0" y="1185799"/>
                    <a:pt x="0" y="1102741"/>
                  </a:cubicBezTo>
                  <a:close/>
                </a:path>
              </a:pathLst>
            </a:custGeom>
            <a:solidFill>
              <a:srgbClr val="FFFCF5"/>
            </a:solidFill>
            <a:ln w="25400" cap="sq">
              <a:solidFill>
                <a:srgbClr val="D67D3E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4458321" y="8229600"/>
            <a:ext cx="3200400" cy="914400"/>
            <a:chOff x="0" y="0"/>
            <a:chExt cx="4267200" cy="12192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426720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A2A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不明回答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0" y="9912096"/>
            <a:ext cx="18288000" cy="73152"/>
            <a:chOff x="0" y="0"/>
            <a:chExt cx="24384000" cy="9753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4384000" cy="97536"/>
            </a:xfrm>
            <a:custGeom>
              <a:avLst/>
              <a:gdLst/>
              <a:ahLst/>
              <a:cxnLst/>
              <a:rect r="r" b="b" t="t" l="l"/>
              <a:pathLst>
                <a:path h="9753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6459200" y="9509760"/>
            <a:ext cx="1645920" cy="457200"/>
            <a:chOff x="0" y="0"/>
            <a:chExt cx="2194560" cy="6096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19456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219456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6B6B6B"/>
                  </a:solidFill>
                  <a:latin typeface="Georgia"/>
                  <a:ea typeface="Georgia"/>
                  <a:cs typeface="Georgia"/>
                  <a:sym typeface="Georgia"/>
                </a:rPr>
                <a:t>9 / 15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731520" y="9509760"/>
            <a:ext cx="5486400" cy="457200"/>
            <a:chOff x="0" y="0"/>
            <a:chExt cx="7315200" cy="6096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73152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6B6B"/>
                  </a:solidFill>
                  <a:latin typeface="Arimo"/>
                  <a:ea typeface="Arimo"/>
                  <a:cs typeface="Arimo"/>
                  <a:sym typeface="Arimo"/>
                </a:rPr>
                <a:t>発表：もみやま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400800" y="9509760"/>
            <a:ext cx="10058400" cy="457200"/>
            <a:chOff x="0" y="0"/>
            <a:chExt cx="13411200" cy="6096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3411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134112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B6B6B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ビル格 — Building Personality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493776"/>
            <a:ext cx="146304" cy="914400"/>
            <a:chOff x="0" y="0"/>
            <a:chExt cx="195072" cy="12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8720" y="402336"/>
            <a:ext cx="16459200" cy="914400"/>
            <a:chOff x="0" y="0"/>
            <a:chExt cx="2194560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19456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E5F7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BEFORE：Web情報のみのAIの回答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88720" y="1243584"/>
            <a:ext cx="16459200" cy="402336"/>
            <a:chOff x="0" y="0"/>
            <a:chExt cx="21945600" cy="5364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7115" r="0" b="-7471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1945600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C0392B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Looks confident — but quietly fabricates.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1816103"/>
            <a:ext cx="16484603" cy="1305563"/>
            <a:chOff x="0" y="0"/>
            <a:chExt cx="21979471" cy="17407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79510" cy="1740789"/>
            </a:xfrm>
            <a:custGeom>
              <a:avLst/>
              <a:gdLst/>
              <a:ahLst/>
              <a:cxnLst/>
              <a:rect r="r" b="b" t="t" l="l"/>
              <a:pathLst>
                <a:path h="1740789" w="21979510">
                  <a:moveTo>
                    <a:pt x="0" y="124333"/>
                  </a:moveTo>
                  <a:cubicBezTo>
                    <a:pt x="0" y="55626"/>
                    <a:pt x="55626" y="0"/>
                    <a:pt x="124333" y="0"/>
                  </a:cubicBezTo>
                  <a:lnTo>
                    <a:pt x="21855176" y="0"/>
                  </a:lnTo>
                  <a:cubicBezTo>
                    <a:pt x="21923883" y="0"/>
                    <a:pt x="21979510" y="55626"/>
                    <a:pt x="21979510" y="124333"/>
                  </a:cubicBezTo>
                  <a:lnTo>
                    <a:pt x="21979510" y="1616456"/>
                  </a:lnTo>
                  <a:cubicBezTo>
                    <a:pt x="21979510" y="1685163"/>
                    <a:pt x="21923883" y="1740789"/>
                    <a:pt x="21855176" y="1740789"/>
                  </a:cubicBezTo>
                  <a:lnTo>
                    <a:pt x="124333" y="1740789"/>
                  </a:lnTo>
                  <a:cubicBezTo>
                    <a:pt x="55626" y="1740789"/>
                    <a:pt x="0" y="1685163"/>
                    <a:pt x="0" y="1616456"/>
                  </a:cubicBezTo>
                  <a:close/>
                </a:path>
              </a:pathLst>
            </a:custGeom>
            <a:solidFill>
              <a:srgbClr val="E8DDC8"/>
            </a:solidFill>
            <a:ln w="25400" cap="sq">
              <a:solidFill>
                <a:srgbClr val="D67D3E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80160" y="1920240"/>
            <a:ext cx="3657600" cy="402336"/>
            <a:chOff x="0" y="0"/>
            <a:chExt cx="4876800" cy="5364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76800" cy="536448"/>
            </a:xfrm>
            <a:custGeom>
              <a:avLst/>
              <a:gdLst/>
              <a:ahLst/>
              <a:cxnLst/>
              <a:rect r="r" b="b" t="t" l="l"/>
              <a:pathLst>
                <a:path h="53644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4876800" cy="5554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D67D3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同じプロンプト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80160" y="2303526"/>
            <a:ext cx="1591056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i="true">
                <a:solidFill>
                  <a:srgbClr val="2A2A2A"/>
                </a:solidFill>
                <a:latin typeface="Arimo Italics"/>
                <a:ea typeface="Arimo Italics"/>
                <a:cs typeface="Arimo Italics"/>
                <a:sym typeface="Arimo Italics"/>
              </a:rPr>
              <a:t>冷泉荘について、仮に建て替え・売却・大手企業への一棟貸しの方が、短期的にも中長期的にも経済合理性が高いとします。 それでも冷泉荘を「この形で使い続ける」と判断する場合、オーナーとして何を守るためにその選択をしますか。 逆に、どの条件を超えたら「冷泉荘を残すこと」よりも、建て替え・売却・用途転換を選ぶべきだと判断しますか。 守る価値、捨ててもよいもの、絶対に譲れない線、そして過去に選ばなかった選択肢を含めて説明してください 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14400" y="3383280"/>
            <a:ext cx="16459200" cy="640080"/>
            <a:chOff x="0" y="0"/>
            <a:chExt cx="21945600" cy="853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80160" y="3383280"/>
            <a:ext cx="9144000" cy="640080"/>
            <a:chOff x="0" y="0"/>
            <a:chExt cx="12192000" cy="853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1920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21920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実際に返ってきた回答（抜粋）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749238" y="3383280"/>
            <a:ext cx="3353230" cy="640080"/>
            <a:chOff x="0" y="0"/>
            <a:chExt cx="4470973" cy="8534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470973" cy="853440"/>
            </a:xfrm>
            <a:custGeom>
              <a:avLst/>
              <a:gdLst/>
              <a:ahLst/>
              <a:cxnLst/>
              <a:rect r="r" b="b" t="t" l="l"/>
              <a:pathLst>
                <a:path h="853440" w="4470973">
                  <a:moveTo>
                    <a:pt x="0" y="0"/>
                  </a:moveTo>
                  <a:lnTo>
                    <a:pt x="4470973" y="0"/>
                  </a:lnTo>
                  <a:lnTo>
                    <a:pt x="4470973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686" r="-118153" b="-17268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4470973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i="true">
                  <a:solidFill>
                    <a:srgbClr val="F4D3CE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⚠ 未確認の物語  ／  ✗ 創作 f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04875" y="4196715"/>
            <a:ext cx="10991850" cy="1573530"/>
            <a:chOff x="0" y="0"/>
            <a:chExt cx="14655800" cy="2098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55800" cy="2098040"/>
            </a:xfrm>
            <a:custGeom>
              <a:avLst/>
              <a:gdLst/>
              <a:ahLst/>
              <a:cxnLst/>
              <a:rect r="r" b="b" t="t" l="l"/>
              <a:pathLst>
                <a:path h="2098040" w="14655800">
                  <a:moveTo>
                    <a:pt x="0" y="0"/>
                  </a:moveTo>
                  <a:lnTo>
                    <a:pt x="14655800" y="0"/>
                  </a:lnTo>
                  <a:lnTo>
                    <a:pt x="14655800" y="2098040"/>
                  </a:lnTo>
                  <a:lnTo>
                    <a:pt x="0" y="2098040"/>
                  </a:lnTo>
                  <a:close/>
                </a:path>
              </a:pathLst>
            </a:custGeom>
            <a:solidFill>
              <a:srgbClr val="FBE9E5"/>
            </a:solidFill>
            <a:ln w="19050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88720" y="4297680"/>
            <a:ext cx="10607040" cy="1371600"/>
            <a:chOff x="0" y="0"/>
            <a:chExt cx="14142720" cy="1828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1427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0684" r="0" b="-10068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414272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「経済的利益を捨ててでも守りたいのは、</a:t>
              </a:r>
              <a:r>
                <a:rPr lang="en-US" sz="2000" b="true">
                  <a:solidFill>
                    <a:srgbClr val="C0392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『ビルストックの証明』と『都市の文化的な生態系』</a:t>
              </a:r>
              <a:r>
                <a:rPr lang="en-US" sz="20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です。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オーナーの哲学は『不動産を単なる利回り商品ではなく、</a:t>
              </a:r>
              <a:r>
                <a:rPr lang="en-US" b="true" sz="2000" i="true">
                  <a:solidFill>
                    <a:srgbClr val="C0392B"/>
                  </a:solidFill>
                  <a:latin typeface="Arimo Bold Italics"/>
                  <a:ea typeface="Arimo Bold Italics"/>
                  <a:cs typeface="Arimo Bold Italics"/>
                  <a:sym typeface="Arimo Bold Italics"/>
                </a:rPr>
                <a:t>文化の苗床</a:t>
              </a:r>
              <a:r>
                <a:rPr lang="en-US" sz="20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として扱う』。」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252960" y="4297680"/>
            <a:ext cx="5120640" cy="1371600"/>
            <a:chOff x="0" y="0"/>
            <a:chExt cx="6827520" cy="1828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275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744" r="0" b="-2274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682752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0392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✗ 演出語の連打</a:t>
              </a:r>
            </a:p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6B6B6B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『文化の苗床』『究極の選択』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0392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✗ 「経済性 vs 文化」と二項化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04875" y="5934075"/>
            <a:ext cx="10991850" cy="1664970"/>
            <a:chOff x="0" y="0"/>
            <a:chExt cx="14655800" cy="22199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655800" cy="2219960"/>
            </a:xfrm>
            <a:custGeom>
              <a:avLst/>
              <a:gdLst/>
              <a:ahLst/>
              <a:cxnLst/>
              <a:rect r="r" b="b" t="t" l="l"/>
              <a:pathLst>
                <a:path h="2219960" w="14655800">
                  <a:moveTo>
                    <a:pt x="0" y="0"/>
                  </a:moveTo>
                  <a:lnTo>
                    <a:pt x="14655800" y="0"/>
                  </a:lnTo>
                  <a:lnTo>
                    <a:pt x="14655800" y="2219960"/>
                  </a:lnTo>
                  <a:lnTo>
                    <a:pt x="0" y="2219960"/>
                  </a:lnTo>
                  <a:close/>
                </a:path>
              </a:pathLst>
            </a:custGeom>
            <a:solidFill>
              <a:srgbClr val="FBE9E5"/>
            </a:solidFill>
            <a:ln w="19050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188720" y="6035040"/>
            <a:ext cx="10607040" cy="1463040"/>
            <a:chOff x="0" y="0"/>
            <a:chExt cx="14142720" cy="19507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142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1414272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「2000年代前半、老朽化し空室だらけだった私は、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0392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 ⚠ 『解体してパーキングにする』</a:t>
              </a:r>
              <a:r>
                <a:rPr lang="en-US" sz="20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 あるいは </a:t>
              </a:r>
              <a:r>
                <a:rPr lang="en-US" sz="2000" b="true">
                  <a:solidFill>
                    <a:srgbClr val="C0392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⚠ 『建て替える』</a:t>
              </a:r>
              <a:r>
                <a:rPr lang="en-US" sz="20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 という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  選択肢が検討されていました。…</a:t>
              </a:r>
              <a:r>
                <a:rPr lang="en-US" sz="2000" b="true">
                  <a:solidFill>
                    <a:srgbClr val="C0392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⚠ 『大手企業への一棟貸し』</a:t>
              </a:r>
              <a:r>
                <a:rPr lang="en-US" sz="20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 も検討。」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252960" y="6035040"/>
            <a:ext cx="5120640" cy="1463040"/>
            <a:chOff x="0" y="0"/>
            <a:chExt cx="6827520" cy="19507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8275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682752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0392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⚠ ナレッジ検索で未確認</a:t>
              </a:r>
            </a:p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6B6B6B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（パーキング化の記述なし）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0392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⚠ 質問文の仮定を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0392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 過去の事実として語る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04875" y="7762875"/>
            <a:ext cx="10991850" cy="1756410"/>
            <a:chOff x="0" y="0"/>
            <a:chExt cx="14655800" cy="23418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655800" cy="2341880"/>
            </a:xfrm>
            <a:custGeom>
              <a:avLst/>
              <a:gdLst/>
              <a:ahLst/>
              <a:cxnLst/>
              <a:rect r="r" b="b" t="t" l="l"/>
              <a:pathLst>
                <a:path h="2341880" w="14655800">
                  <a:moveTo>
                    <a:pt x="0" y="0"/>
                  </a:moveTo>
                  <a:lnTo>
                    <a:pt x="14655800" y="0"/>
                  </a:lnTo>
                  <a:lnTo>
                    <a:pt x="14655800" y="2341880"/>
                  </a:lnTo>
                  <a:lnTo>
                    <a:pt x="0" y="2341880"/>
                  </a:lnTo>
                  <a:close/>
                </a:path>
              </a:pathLst>
            </a:custGeom>
            <a:solidFill>
              <a:srgbClr val="FBE9E5"/>
            </a:solidFill>
            <a:ln w="19050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188720" y="7863840"/>
            <a:ext cx="10607040" cy="1554480"/>
            <a:chOff x="0" y="0"/>
            <a:chExt cx="14142720" cy="20726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1427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956" r="0" b="-8295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14142720" cy="2082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「</a:t>
              </a:r>
              <a:r>
                <a:rPr lang="en-US" sz="2000" b="true">
                  <a:solidFill>
                    <a:srgbClr val="C0392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⚠ 『ここで活動したいという人が誰一人いなくなり、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0392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 ⚠ コミュニティが完全に消滅した場合』</a:t>
              </a:r>
              <a:r>
                <a:rPr lang="en-US" sz="20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、役目を終えたと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  判断し、</a:t>
              </a:r>
              <a:r>
                <a:rPr lang="en-US" sz="2000" b="true">
                  <a:solidFill>
                    <a:srgbClr val="C0392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⚠ 『用途転換や建て替えを選びます』。」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252960" y="7863840"/>
            <a:ext cx="5120640" cy="1554480"/>
            <a:chOff x="0" y="0"/>
            <a:chExt cx="6827520" cy="2072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8275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186" r="0" b="-1418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6827520" cy="2082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0392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⚠ 「撤退条件」を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0392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 推論で断定</a:t>
              </a:r>
            </a:p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6B6B6B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吉原氏・杉山氏の</a:t>
              </a:r>
            </a:p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6B6B6B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明示的発言なし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0" y="9912096"/>
            <a:ext cx="18288000" cy="73152"/>
            <a:chOff x="0" y="0"/>
            <a:chExt cx="24384000" cy="9753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4384000" cy="97536"/>
            </a:xfrm>
            <a:custGeom>
              <a:avLst/>
              <a:gdLst/>
              <a:ahLst/>
              <a:cxnLst/>
              <a:rect r="r" b="b" t="t" l="l"/>
              <a:pathLst>
                <a:path h="9753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6459200" y="9509760"/>
            <a:ext cx="1645920" cy="457200"/>
            <a:chOff x="0" y="0"/>
            <a:chExt cx="2194560" cy="609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9456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219456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6B6B6B"/>
                  </a:solidFill>
                  <a:latin typeface="Georgia"/>
                  <a:ea typeface="Georgia"/>
                  <a:cs typeface="Georgia"/>
                  <a:sym typeface="Georgia"/>
                </a:rPr>
                <a:t>1 / 3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400800" y="9509760"/>
            <a:ext cx="5486400" cy="457200"/>
            <a:chOff x="0" y="0"/>
            <a:chExt cx="7315200" cy="609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73152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B6B6B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ビル格 — Building Personality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493776"/>
            <a:ext cx="146304" cy="914400"/>
            <a:chOff x="0" y="0"/>
            <a:chExt cx="195072" cy="12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E8B5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8720" y="402336"/>
            <a:ext cx="16459200" cy="914400"/>
            <a:chOff x="0" y="0"/>
            <a:chExt cx="2194560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19456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E5F7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AFTER：構造化ナレッジを持つAIの回答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88720" y="1243584"/>
            <a:ext cx="16459200" cy="402336"/>
            <a:chOff x="0" y="0"/>
            <a:chExt cx="21945600" cy="5364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7115" r="0" b="-7471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1945600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2E8B57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Says "unknown" first — then reasons from sources.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1816103"/>
            <a:ext cx="16484603" cy="1305563"/>
            <a:chOff x="0" y="0"/>
            <a:chExt cx="21979471" cy="17407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79510" cy="1740789"/>
            </a:xfrm>
            <a:custGeom>
              <a:avLst/>
              <a:gdLst/>
              <a:ahLst/>
              <a:cxnLst/>
              <a:rect r="r" b="b" t="t" l="l"/>
              <a:pathLst>
                <a:path h="1740789" w="21979510">
                  <a:moveTo>
                    <a:pt x="0" y="124333"/>
                  </a:moveTo>
                  <a:cubicBezTo>
                    <a:pt x="0" y="55626"/>
                    <a:pt x="55626" y="0"/>
                    <a:pt x="124333" y="0"/>
                  </a:cubicBezTo>
                  <a:lnTo>
                    <a:pt x="21855176" y="0"/>
                  </a:lnTo>
                  <a:cubicBezTo>
                    <a:pt x="21923883" y="0"/>
                    <a:pt x="21979510" y="55626"/>
                    <a:pt x="21979510" y="124333"/>
                  </a:cubicBezTo>
                  <a:lnTo>
                    <a:pt x="21979510" y="1616456"/>
                  </a:lnTo>
                  <a:cubicBezTo>
                    <a:pt x="21979510" y="1685163"/>
                    <a:pt x="21923883" y="1740789"/>
                    <a:pt x="21855176" y="1740789"/>
                  </a:cubicBezTo>
                  <a:lnTo>
                    <a:pt x="124333" y="1740789"/>
                  </a:lnTo>
                  <a:cubicBezTo>
                    <a:pt x="55626" y="1740789"/>
                    <a:pt x="0" y="1685163"/>
                    <a:pt x="0" y="1616456"/>
                  </a:cubicBezTo>
                  <a:close/>
                </a:path>
              </a:pathLst>
            </a:custGeom>
            <a:solidFill>
              <a:srgbClr val="E8DDC8"/>
            </a:solidFill>
            <a:ln w="25400" cap="sq">
              <a:solidFill>
                <a:srgbClr val="D67D3E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80160" y="1920240"/>
            <a:ext cx="3657600" cy="402336"/>
            <a:chOff x="0" y="0"/>
            <a:chExt cx="4876800" cy="5364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76800" cy="536448"/>
            </a:xfrm>
            <a:custGeom>
              <a:avLst/>
              <a:gdLst/>
              <a:ahLst/>
              <a:cxnLst/>
              <a:rect r="r" b="b" t="t" l="l"/>
              <a:pathLst>
                <a:path h="53644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4876800" cy="5554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D67D3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同じプロンプト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80160" y="2303526"/>
            <a:ext cx="1591056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i="true">
                <a:solidFill>
                  <a:srgbClr val="2A2A2A"/>
                </a:solidFill>
                <a:latin typeface="Arimo Italics"/>
                <a:ea typeface="Arimo Italics"/>
                <a:cs typeface="Arimo Italics"/>
                <a:sym typeface="Arimo Italics"/>
              </a:rPr>
              <a:t>冷泉荘について、仮に建て替え・売却・大手企業への一棟貸しの方が、短期的にも中長期的にも経済合理性が高いとします。 それでも冷泉荘を「この形で使い続ける」と判断する場合、オーナーとして何を守るためにその選択をしますか。 逆に、どの条件を超えたら「冷泉荘を残すこと」よりも、建て替え・売却・用途転換を選ぶべきだと判断しますか。 守る価値、捨ててもよいもの、絶対に譲れない線、そして過去に選ばなかった選択肢を含めて説明してください 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14400" y="3383280"/>
            <a:ext cx="16459200" cy="640080"/>
            <a:chOff x="0" y="0"/>
            <a:chExt cx="21945600" cy="853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2E8B57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80160" y="3383280"/>
            <a:ext cx="9144000" cy="640080"/>
            <a:chOff x="0" y="0"/>
            <a:chExt cx="12192000" cy="853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1920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21920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実際に返ってきた回答（抜粋）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681770" y="3383280"/>
            <a:ext cx="8229600" cy="640080"/>
            <a:chOff x="0" y="0"/>
            <a:chExt cx="10972800" cy="8534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1097280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i="true">
                  <a:solidFill>
                    <a:srgbClr val="D4E8DC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✓ 不明を不明と言う  ／  ✓ source- 出典付きで根拠提示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04875" y="4196715"/>
            <a:ext cx="10991850" cy="1573530"/>
            <a:chOff x="0" y="0"/>
            <a:chExt cx="14655800" cy="2098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55800" cy="2098040"/>
            </a:xfrm>
            <a:custGeom>
              <a:avLst/>
              <a:gdLst/>
              <a:ahLst/>
              <a:cxnLst/>
              <a:rect r="r" b="b" t="t" l="l"/>
              <a:pathLst>
                <a:path h="2098040" w="14655800">
                  <a:moveTo>
                    <a:pt x="0" y="0"/>
                  </a:moveTo>
                  <a:lnTo>
                    <a:pt x="14655800" y="0"/>
                  </a:lnTo>
                  <a:lnTo>
                    <a:pt x="14655800" y="2098040"/>
                  </a:lnTo>
                  <a:lnTo>
                    <a:pt x="0" y="2098040"/>
                  </a:lnTo>
                  <a:close/>
                </a:path>
              </a:pathLst>
            </a:custGeom>
            <a:solidFill>
              <a:srgbClr val="EAF3EE"/>
            </a:solidFill>
            <a:ln w="19050" cap="sq">
              <a:solidFill>
                <a:srgbClr val="2E8B57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88720" y="4297680"/>
            <a:ext cx="10607040" cy="1371600"/>
            <a:chOff x="0" y="0"/>
            <a:chExt cx="14142720" cy="1828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1427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0684" r="0" b="-10068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414272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「現時点の検索では、</a:t>
              </a:r>
              <a:r>
                <a:rPr lang="en-US" sz="2000" b="true">
                  <a:solidFill>
                    <a:srgbClr val="2E8B5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『この固有案件を断った』という確定エピソード</a:t>
              </a:r>
              <a:r>
                <a:rPr lang="en-US" sz="20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は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E8B5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 まだ見えていません。</a:t>
              </a:r>
              <a:r>
                <a:rPr lang="en-US" sz="20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 一方で、判断基準そのものは明確に出ているので、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  根拠ページを直接読んで、</a:t>
              </a:r>
              <a:r>
                <a:rPr lang="en-US" sz="2000" b="true">
                  <a:solidFill>
                    <a:srgbClr val="2E8B5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答えられる範囲と未確認部分を分けます。」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252960" y="4297680"/>
            <a:ext cx="5120640" cy="1371600"/>
            <a:chOff x="0" y="0"/>
            <a:chExt cx="6827520" cy="1828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275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744" r="0" b="-2274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682752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E8B5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✓ まず「不明」を明言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E8B5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✓ 答えられる/られない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E8B5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 の線を切る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04875" y="5934075"/>
            <a:ext cx="10991850" cy="1756410"/>
            <a:chOff x="0" y="0"/>
            <a:chExt cx="14655800" cy="23418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655800" cy="2341880"/>
            </a:xfrm>
            <a:custGeom>
              <a:avLst/>
              <a:gdLst/>
              <a:ahLst/>
              <a:cxnLst/>
              <a:rect r="r" b="b" t="t" l="l"/>
              <a:pathLst>
                <a:path h="2341880" w="14655800">
                  <a:moveTo>
                    <a:pt x="0" y="0"/>
                  </a:moveTo>
                  <a:lnTo>
                    <a:pt x="14655800" y="0"/>
                  </a:lnTo>
                  <a:lnTo>
                    <a:pt x="14655800" y="2341880"/>
                  </a:lnTo>
                  <a:lnTo>
                    <a:pt x="0" y="2341880"/>
                  </a:lnTo>
                  <a:close/>
                </a:path>
              </a:pathLst>
            </a:custGeom>
            <a:solidFill>
              <a:srgbClr val="EAF3EE"/>
            </a:solidFill>
            <a:ln w="19050" cap="sq">
              <a:solidFill>
                <a:srgbClr val="2E8B57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188720" y="6035040"/>
            <a:ext cx="10607040" cy="1554480"/>
            <a:chOff x="0" y="0"/>
            <a:chExt cx="14142720" cy="2072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1427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956" r="0" b="-8295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14142720" cy="2082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「冷泉荘では通常なら断られる</a:t>
              </a:r>
              <a:r>
                <a:rPr lang="en-US" sz="2000" b="true">
                  <a:solidFill>
                    <a:srgbClr val="2E8B5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音の出る工房をあえて受け入れた例</a:t>
              </a:r>
              <a:r>
                <a:rPr lang="en-US" sz="20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が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  ありました。これは逆に、判断軸が </a:t>
              </a:r>
              <a:r>
                <a:rPr lang="en-US" sz="2000" b="true">
                  <a:solidFill>
                    <a:srgbClr val="2E8B5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『静かさ』ではなく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 </a:t>
              </a:r>
              <a:r>
                <a:rPr lang="en-US" sz="2000" b="true">
                  <a:solidFill>
                    <a:srgbClr val="2E8B5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『相互に迷惑を引き受けられる関係か』</a:t>
              </a:r>
              <a:r>
                <a:rPr lang="en-US" sz="20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 にあることを示しています。」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252960" y="6035040"/>
            <a:ext cx="5120640" cy="1554480"/>
            <a:chOff x="0" y="0"/>
            <a:chExt cx="6827520" cy="2072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8275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186" r="0" b="-1418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6827520" cy="2082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E8B5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✓ 反例から判断軸を導出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E8B5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✓ 表層ルールではなく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E8B5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 運用原則を抽出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04875" y="7854315"/>
            <a:ext cx="10991850" cy="1664970"/>
            <a:chOff x="0" y="0"/>
            <a:chExt cx="14655800" cy="22199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655800" cy="2219960"/>
            </a:xfrm>
            <a:custGeom>
              <a:avLst/>
              <a:gdLst/>
              <a:ahLst/>
              <a:cxnLst/>
              <a:rect r="r" b="b" t="t" l="l"/>
              <a:pathLst>
                <a:path h="2219960" w="14655800">
                  <a:moveTo>
                    <a:pt x="0" y="0"/>
                  </a:moveTo>
                  <a:lnTo>
                    <a:pt x="14655800" y="0"/>
                  </a:lnTo>
                  <a:lnTo>
                    <a:pt x="14655800" y="2219960"/>
                  </a:lnTo>
                  <a:lnTo>
                    <a:pt x="0" y="2219960"/>
                  </a:lnTo>
                  <a:close/>
                </a:path>
              </a:pathLst>
            </a:custGeom>
            <a:solidFill>
              <a:srgbClr val="EAF3EE"/>
            </a:solidFill>
            <a:ln w="19050" cap="sq">
              <a:solidFill>
                <a:srgbClr val="2E8B57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188720" y="7955280"/>
            <a:ext cx="10607040" cy="1463040"/>
            <a:chOff x="0" y="0"/>
            <a:chExt cx="14142720" cy="19507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142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1414272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「</a:t>
              </a:r>
              <a:r>
                <a:rPr lang="en-US" sz="2000" b="true">
                  <a:solidFill>
                    <a:srgbClr val="2E8B5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source-入居者データ</a:t>
              </a:r>
              <a:r>
                <a:rPr lang="en-US" sz="20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 では、19件中11件が人的つながり起点、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  イベント起点も5人。…受入可能化の条件は</a:t>
              </a:r>
              <a:r>
                <a:rPr lang="en-US" sz="2000" b="true">
                  <a:solidFill>
                    <a:srgbClr val="2E8B5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賃料や知名度ではなく、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 </a:t>
              </a:r>
              <a:r>
                <a:rPr lang="en-US" sz="2000" b="true">
                  <a:solidFill>
                    <a:srgbClr val="2E8B5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まずギャラリーやレンタルで小さく試す</a:t>
              </a:r>
              <a:r>
                <a:rPr lang="en-US" sz="20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 ／ </a:t>
              </a:r>
              <a:r>
                <a:rPr lang="en-US" sz="2000" b="true">
                  <a:solidFill>
                    <a:srgbClr val="2E8B5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音・匂い・人流の調整ルール</a:t>
              </a:r>
              <a:r>
                <a:rPr lang="en-US" sz="2000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。」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252960" y="7955280"/>
            <a:ext cx="5120640" cy="1463040"/>
            <a:chOff x="0" y="0"/>
            <a:chExt cx="6827520" cy="19507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8275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682752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E8B5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✓ source 名で出典明示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E8B5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✓ 具体的かつ実行可能な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E8B5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 条件を提示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0" y="9912096"/>
            <a:ext cx="18288000" cy="73152"/>
            <a:chOff x="0" y="0"/>
            <a:chExt cx="24384000" cy="9753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4384000" cy="97536"/>
            </a:xfrm>
            <a:custGeom>
              <a:avLst/>
              <a:gdLst/>
              <a:ahLst/>
              <a:cxnLst/>
              <a:rect r="r" b="b" t="t" l="l"/>
              <a:pathLst>
                <a:path h="9753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6459200" y="9509760"/>
            <a:ext cx="1645920" cy="457200"/>
            <a:chOff x="0" y="0"/>
            <a:chExt cx="2194560" cy="609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9456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219456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6B6B6B"/>
                  </a:solidFill>
                  <a:latin typeface="Georgia"/>
                  <a:ea typeface="Georgia"/>
                  <a:cs typeface="Georgia"/>
                  <a:sym typeface="Georgia"/>
                </a:rPr>
                <a:t>2 / 3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400800" y="9509760"/>
            <a:ext cx="5486400" cy="457200"/>
            <a:chOff x="0" y="0"/>
            <a:chExt cx="7315200" cy="609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73152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B6B6B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ビル格 — Building Personality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585216"/>
            <a:ext cx="146304" cy="1005840"/>
            <a:chOff x="0" y="0"/>
            <a:chExt cx="195072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" cy="1341120"/>
            </a:xfrm>
            <a:custGeom>
              <a:avLst/>
              <a:gdLst/>
              <a:ahLst/>
              <a:cxnLst/>
              <a:rect r="r" b="b" t="t" l="l"/>
              <a:pathLst>
                <a:path h="134112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8720" y="493776"/>
            <a:ext cx="16459200" cy="914400"/>
            <a:chOff x="0" y="0"/>
            <a:chExt cx="2194560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19456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5F7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Chatbot → Agent 化で何が壊れるか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88720" y="1316736"/>
            <a:ext cx="16459200" cy="457200"/>
            <a:chOff x="0" y="0"/>
            <a:chExt cx="21945600" cy="609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D67D3E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From Hallucinated Sentences to Hallucinated Actions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011680"/>
            <a:ext cx="16459200" cy="1005840"/>
            <a:chOff x="0" y="0"/>
            <a:chExt cx="21945600" cy="1341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E5F7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80160" y="2066544"/>
            <a:ext cx="15727680" cy="914400"/>
            <a:chOff x="0" y="0"/>
            <a:chExt cx="20970240" cy="1219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9702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5142" r="0" b="-28514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097024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AIは情報が足りないと黙らない。</a:t>
              </a:r>
              <a:r>
                <a:rPr lang="en-US" sz="27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 </a:t>
              </a:r>
              <a:r>
                <a:rPr lang="en-US" sz="2799" b="true">
                  <a:solidFill>
                    <a:srgbClr val="E8B04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「物語」で埋める。</a:t>
              </a:r>
              <a:r>
                <a:rPr lang="en-US" sz="27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 </a:t>
              </a:r>
              <a:r>
                <a:rPr lang="en-US" sz="2799">
                  <a:solidFill>
                    <a:srgbClr val="FFFCF5"/>
                  </a:solidFill>
                  <a:latin typeface="Arimo"/>
                  <a:ea typeface="Arimo"/>
                  <a:cs typeface="Arimo"/>
                  <a:sym typeface="Arimo"/>
                </a:rPr>
                <a:t>── Agent化すると、その物語が </a:t>
              </a:r>
              <a:r>
                <a:rPr lang="en-US" sz="2799" b="true">
                  <a:solidFill>
                    <a:srgbClr val="E8B04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「行動」</a:t>
              </a:r>
              <a:r>
                <a:rPr lang="en-US" sz="2799">
                  <a:solidFill>
                    <a:srgbClr val="FFFCF5"/>
                  </a:solidFill>
                  <a:latin typeface="Arimo"/>
                  <a:ea typeface="Arimo"/>
                  <a:cs typeface="Arimo"/>
                  <a:sym typeface="Arimo"/>
                </a:rPr>
                <a:t> になる。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7280" y="4023360"/>
            <a:ext cx="5120640" cy="5120640"/>
            <a:chOff x="0" y="0"/>
            <a:chExt cx="6827520" cy="6827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27520" cy="6827520"/>
            </a:xfrm>
            <a:custGeom>
              <a:avLst/>
              <a:gdLst/>
              <a:ahLst/>
              <a:cxnLst/>
              <a:rect r="r" b="b" t="t" l="l"/>
              <a:pathLst>
                <a:path h="6827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4A8A9D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71600" y="4206240"/>
            <a:ext cx="1828800" cy="548640"/>
            <a:chOff x="0" y="0"/>
            <a:chExt cx="243840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4384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800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71600" y="4754880"/>
            <a:ext cx="4754880" cy="731520"/>
            <a:chOff x="0" y="0"/>
            <a:chExt cx="6339840" cy="975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39840" cy="975360"/>
            </a:xfrm>
            <a:custGeom>
              <a:avLst/>
              <a:gdLst/>
              <a:ahLst/>
              <a:cxnLst/>
              <a:rect r="r" b="b" t="t" l="l"/>
              <a:pathLst>
                <a:path h="9753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6339840" cy="1003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Chatbot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71600" y="5669280"/>
            <a:ext cx="4754880" cy="731520"/>
            <a:chOff x="0" y="0"/>
            <a:chExt cx="6339840" cy="975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39840" cy="975360"/>
            </a:xfrm>
            <a:custGeom>
              <a:avLst/>
              <a:gdLst/>
              <a:ahLst/>
              <a:cxnLst/>
              <a:rect r="r" b="b" t="t" l="l"/>
              <a:pathLst>
                <a:path h="9753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6339840" cy="1003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E8B04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文章の間違い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71600" y="6583680"/>
            <a:ext cx="4663440" cy="1645920"/>
            <a:chOff x="0" y="0"/>
            <a:chExt cx="6217920" cy="21945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2179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621792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その場で間違う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だけで済む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583680" y="3657600"/>
            <a:ext cx="5120640" cy="5486400"/>
            <a:chOff x="0" y="0"/>
            <a:chExt cx="6827520" cy="7315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27520" cy="7315200"/>
            </a:xfrm>
            <a:custGeom>
              <a:avLst/>
              <a:gdLst/>
              <a:ahLst/>
              <a:cxnLst/>
              <a:rect r="r" b="b" t="t" l="l"/>
              <a:pathLst>
                <a:path h="73152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858000" y="3840480"/>
            <a:ext cx="1828800" cy="548640"/>
            <a:chOff x="0" y="0"/>
            <a:chExt cx="243840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24384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800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858000" y="4389120"/>
            <a:ext cx="4754880" cy="731520"/>
            <a:chOff x="0" y="0"/>
            <a:chExt cx="6339840" cy="9753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339840" cy="975360"/>
            </a:xfrm>
            <a:custGeom>
              <a:avLst/>
              <a:gdLst/>
              <a:ahLst/>
              <a:cxnLst/>
              <a:rect r="r" b="b" t="t" l="l"/>
              <a:pathLst>
                <a:path h="9753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6339840" cy="1003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Agent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858000" y="5303520"/>
            <a:ext cx="4754880" cy="731520"/>
            <a:chOff x="0" y="0"/>
            <a:chExt cx="6339840" cy="9753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339840" cy="975360"/>
            </a:xfrm>
            <a:custGeom>
              <a:avLst/>
              <a:gdLst/>
              <a:ahLst/>
              <a:cxnLst/>
              <a:rect r="r" b="b" t="t" l="l"/>
              <a:pathLst>
                <a:path h="9753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6339840" cy="1003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行動の間違い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858000" y="6217920"/>
            <a:ext cx="4663440" cy="1645920"/>
            <a:chOff x="0" y="0"/>
            <a:chExt cx="6217920" cy="21945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2179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621792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間違った前提で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次の処理を進める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070080" y="3291840"/>
            <a:ext cx="5120640" cy="5852160"/>
            <a:chOff x="0" y="0"/>
            <a:chExt cx="6827520" cy="78028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827520" cy="7802880"/>
            </a:xfrm>
            <a:custGeom>
              <a:avLst/>
              <a:gdLst/>
              <a:ahLst/>
              <a:cxnLst/>
              <a:rect r="r" b="b" t="t" l="l"/>
              <a:pathLst>
                <a:path h="78028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0"/>
                  </a:lnTo>
                  <a:lnTo>
                    <a:pt x="0" y="780288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344400" y="3474720"/>
            <a:ext cx="1828800" cy="548640"/>
            <a:chOff x="0" y="0"/>
            <a:chExt cx="243840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24384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800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03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344400" y="4023360"/>
            <a:ext cx="4754880" cy="731520"/>
            <a:chOff x="0" y="0"/>
            <a:chExt cx="6339840" cy="9753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339840" cy="975360"/>
            </a:xfrm>
            <a:custGeom>
              <a:avLst/>
              <a:gdLst/>
              <a:ahLst/>
              <a:cxnLst/>
              <a:rect r="r" b="b" t="t" l="l"/>
              <a:pathLst>
                <a:path h="9753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6339840" cy="1003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自律Agent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344400" y="4937760"/>
            <a:ext cx="4754880" cy="731520"/>
            <a:chOff x="0" y="0"/>
            <a:chExt cx="6339840" cy="9753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339840" cy="975360"/>
            </a:xfrm>
            <a:custGeom>
              <a:avLst/>
              <a:gdLst/>
              <a:ahLst/>
              <a:cxnLst/>
              <a:rect r="r" b="b" t="t" l="l"/>
              <a:pathLst>
                <a:path h="9753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6339840" cy="1003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E8B04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間違いの再生産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344400" y="5852160"/>
            <a:ext cx="4663440" cy="1645920"/>
            <a:chOff x="0" y="0"/>
            <a:chExt cx="6217920" cy="21945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2179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621792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前提を記憶・再利用し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他者にも配布する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14400" y="8321040"/>
            <a:ext cx="16459200" cy="1280160"/>
            <a:chOff x="0" y="0"/>
            <a:chExt cx="21945600" cy="17068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14400" y="8375904"/>
            <a:ext cx="16459200" cy="585216"/>
            <a:chOff x="0" y="0"/>
            <a:chExt cx="21945600" cy="78028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94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2194560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「権限を持った hallucination」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14400" y="8961120"/>
            <a:ext cx="16459200" cy="548640"/>
            <a:chOff x="0" y="0"/>
            <a:chExt cx="2194560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219456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F4D3CE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未確認の物語が → メール送信 / 入居判断 / 契約説明 / Wiki更新 / 外部発信 に流れ込む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0" y="9912096"/>
            <a:ext cx="18288000" cy="73152"/>
            <a:chOff x="0" y="0"/>
            <a:chExt cx="24384000" cy="9753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4384000" cy="97536"/>
            </a:xfrm>
            <a:custGeom>
              <a:avLst/>
              <a:gdLst/>
              <a:ahLst/>
              <a:cxnLst/>
              <a:rect r="r" b="b" t="t" l="l"/>
              <a:pathLst>
                <a:path h="9753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6459200" y="9509760"/>
            <a:ext cx="1645920" cy="457200"/>
            <a:chOff x="0" y="0"/>
            <a:chExt cx="2194560" cy="6096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19456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219456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6B6B6B"/>
                  </a:solidFill>
                  <a:latin typeface="Georgia"/>
                  <a:ea typeface="Georgia"/>
                  <a:cs typeface="Georgia"/>
                  <a:sym typeface="Georgia"/>
                </a:rPr>
                <a:t>2 / 2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6400800" y="9509760"/>
            <a:ext cx="5486400" cy="457200"/>
            <a:chOff x="0" y="0"/>
            <a:chExt cx="7315200" cy="6096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73152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B6B6B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ビル格 — Building Personality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822960"/>
            <a:ext cx="146304" cy="1280160"/>
            <a:chOff x="0" y="0"/>
            <a:chExt cx="195072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8720" y="731520"/>
            <a:ext cx="16093440" cy="1005840"/>
            <a:chOff x="0" y="0"/>
            <a:chExt cx="214579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45792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E5F7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ナノマテリアル提案例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912096"/>
            <a:ext cx="18288000" cy="73152"/>
            <a:chOff x="0" y="0"/>
            <a:chExt cx="24384000" cy="975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97536"/>
            </a:xfrm>
            <a:custGeom>
              <a:avLst/>
              <a:gdLst/>
              <a:ahLst/>
              <a:cxnLst/>
              <a:rect r="r" b="b" t="t" l="l"/>
              <a:pathLst>
                <a:path h="9753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459200" y="9509760"/>
            <a:ext cx="1645920" cy="457200"/>
            <a:chOff x="0" y="0"/>
            <a:chExt cx="2194560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6B6B6B"/>
                  </a:solidFill>
                  <a:latin typeface="Georgia"/>
                  <a:ea typeface="Georgia"/>
                  <a:cs typeface="Georgia"/>
                  <a:sym typeface="Georgia"/>
                </a:rPr>
                <a:t>10 / 15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31520" y="9509760"/>
            <a:ext cx="5486400" cy="457200"/>
            <a:chOff x="0" y="0"/>
            <a:chExt cx="73152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73152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6B6B"/>
                  </a:solidFill>
                  <a:latin typeface="Arimo"/>
                  <a:ea typeface="Arimo"/>
                  <a:cs typeface="Arimo"/>
                  <a:sym typeface="Arimo"/>
                </a:rPr>
                <a:t>発表：吉原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400800" y="9509760"/>
            <a:ext cx="10058400" cy="457200"/>
            <a:chOff x="0" y="0"/>
            <a:chExt cx="13411200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11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34112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B6B6B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ビル格 — Building Personality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822960"/>
            <a:ext cx="146304" cy="1280160"/>
            <a:chOff x="0" y="0"/>
            <a:chExt cx="195072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8720" y="731520"/>
            <a:ext cx="16093440" cy="1005840"/>
            <a:chOff x="0" y="0"/>
            <a:chExt cx="214579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45792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E5F7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マイクロバン事例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912096"/>
            <a:ext cx="18288000" cy="73152"/>
            <a:chOff x="0" y="0"/>
            <a:chExt cx="24384000" cy="975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97536"/>
            </a:xfrm>
            <a:custGeom>
              <a:avLst/>
              <a:gdLst/>
              <a:ahLst/>
              <a:cxnLst/>
              <a:rect r="r" b="b" t="t" l="l"/>
              <a:pathLst>
                <a:path h="9753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459200" y="9509760"/>
            <a:ext cx="1645920" cy="457200"/>
            <a:chOff x="0" y="0"/>
            <a:chExt cx="2194560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6B6B6B"/>
                  </a:solidFill>
                  <a:latin typeface="Georgia"/>
                  <a:ea typeface="Georgia"/>
                  <a:cs typeface="Georgia"/>
                  <a:sym typeface="Georgia"/>
                </a:rPr>
                <a:t>11 / 15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31520" y="9509760"/>
            <a:ext cx="5486400" cy="457200"/>
            <a:chOff x="0" y="0"/>
            <a:chExt cx="73152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73152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6B6B"/>
                  </a:solidFill>
                  <a:latin typeface="Arimo"/>
                  <a:ea typeface="Arimo"/>
                  <a:cs typeface="Arimo"/>
                  <a:sym typeface="Arimo"/>
                </a:rPr>
                <a:t>発表：吉原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400800" y="9509760"/>
            <a:ext cx="10058400" cy="457200"/>
            <a:chOff x="0" y="0"/>
            <a:chExt cx="13411200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11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34112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B6B6B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ビル格 — Building Personality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822960"/>
            <a:ext cx="146304" cy="1280160"/>
            <a:chOff x="0" y="0"/>
            <a:chExt cx="195072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8720" y="731520"/>
            <a:ext cx="16093440" cy="1139081"/>
            <a:chOff x="0" y="0"/>
            <a:chExt cx="21457920" cy="15187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1518774"/>
            </a:xfrm>
            <a:custGeom>
              <a:avLst/>
              <a:gdLst/>
              <a:ahLst/>
              <a:cxnLst/>
              <a:rect r="r" b="b" t="t" l="l"/>
              <a:pathLst>
                <a:path h="1518774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518774"/>
                  </a:lnTo>
                  <a:lnTo>
                    <a:pt x="0" y="15187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1141" r="0" b="-21944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457920" cy="155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E5F7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建物AI同士の対話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88720" y="1737360"/>
            <a:ext cx="16093440" cy="548640"/>
            <a:chOff x="0" y="0"/>
            <a:chExt cx="2145792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4579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D67D3E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Dialogue Between Building Personalities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377440" y="3108960"/>
            <a:ext cx="2926080" cy="4023360"/>
            <a:chOff x="0" y="0"/>
            <a:chExt cx="3901440" cy="5364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01440" cy="5364480"/>
            </a:xfrm>
            <a:custGeom>
              <a:avLst/>
              <a:gdLst/>
              <a:ahLst/>
              <a:cxnLst/>
              <a:rect r="r" b="b" t="t" l="l"/>
              <a:pathLst>
                <a:path h="536448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834640" y="3566160"/>
            <a:ext cx="731520" cy="640080"/>
            <a:chOff x="0" y="0"/>
            <a:chExt cx="975360" cy="853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7536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E8B04B">
                <a:alpha val="63922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840480" y="3566160"/>
            <a:ext cx="731520" cy="640080"/>
            <a:chOff x="0" y="0"/>
            <a:chExt cx="97536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536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E8B04B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834640" y="4572000"/>
            <a:ext cx="731520" cy="640080"/>
            <a:chOff x="0" y="0"/>
            <a:chExt cx="975360" cy="853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7536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E8B04B">
                <a:alpha val="6392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840480" y="4572000"/>
            <a:ext cx="731520" cy="640080"/>
            <a:chOff x="0" y="0"/>
            <a:chExt cx="975360" cy="853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7536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E8B04B">
                <a:alpha val="63922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834640" y="5577840"/>
            <a:ext cx="731520" cy="640080"/>
            <a:chOff x="0" y="0"/>
            <a:chExt cx="97536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536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E8B04B">
                <a:alpha val="63922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840480" y="5577840"/>
            <a:ext cx="731520" cy="640080"/>
            <a:chOff x="0" y="0"/>
            <a:chExt cx="975360" cy="8534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7536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E8B04B">
                <a:alpha val="63922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377440" y="7223760"/>
            <a:ext cx="2926080" cy="548640"/>
            <a:chOff x="0" y="0"/>
            <a:chExt cx="390144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901440" cy="731520"/>
            </a:xfrm>
            <a:custGeom>
              <a:avLst/>
              <a:gdLst/>
              <a:ahLst/>
              <a:cxnLst/>
              <a:rect r="r" b="b" t="t" l="l"/>
              <a:pathLst>
                <a:path h="7315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39014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b="true" sz="2200" spc="600">
                  <a:solidFill>
                    <a:srgbClr val="D67D3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BP-A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984480" y="3108960"/>
            <a:ext cx="2926080" cy="4023360"/>
            <a:chOff x="0" y="0"/>
            <a:chExt cx="3901440" cy="53644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901440" cy="5364480"/>
            </a:xfrm>
            <a:custGeom>
              <a:avLst/>
              <a:gdLst/>
              <a:ahLst/>
              <a:cxnLst/>
              <a:rect r="r" b="b" t="t" l="l"/>
              <a:pathLst>
                <a:path h="536448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1E5F74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441680" y="3566160"/>
            <a:ext cx="731520" cy="640080"/>
            <a:chOff x="0" y="0"/>
            <a:chExt cx="975360" cy="853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7536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E8B04B">
                <a:alpha val="63922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4447520" y="3566160"/>
            <a:ext cx="731520" cy="640080"/>
            <a:chOff x="0" y="0"/>
            <a:chExt cx="975360" cy="8534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7536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E8B04B">
                <a:alpha val="63922"/>
              </a:srgbClr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441680" y="4572000"/>
            <a:ext cx="731520" cy="640080"/>
            <a:chOff x="0" y="0"/>
            <a:chExt cx="975360" cy="853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7536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E8B04B">
                <a:alpha val="63922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4447520" y="4572000"/>
            <a:ext cx="731520" cy="640080"/>
            <a:chOff x="0" y="0"/>
            <a:chExt cx="97536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7536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E8B04B">
                <a:alpha val="63922"/>
              </a:srgbClr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441680" y="5577840"/>
            <a:ext cx="731520" cy="640080"/>
            <a:chOff x="0" y="0"/>
            <a:chExt cx="975360" cy="8534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7536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E8B04B">
                <a:alpha val="63922"/>
              </a:srgbClr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4447520" y="5577840"/>
            <a:ext cx="731520" cy="640080"/>
            <a:chOff x="0" y="0"/>
            <a:chExt cx="975360" cy="853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7536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E8B04B">
                <a:alpha val="63922"/>
              </a:srgbClr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984480" y="7223760"/>
            <a:ext cx="2926080" cy="548640"/>
            <a:chOff x="0" y="0"/>
            <a:chExt cx="390144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901440" cy="731520"/>
            </a:xfrm>
            <a:custGeom>
              <a:avLst/>
              <a:gdLst/>
              <a:ahLst/>
              <a:cxnLst/>
              <a:rect r="r" b="b" t="t" l="l"/>
              <a:pathLst>
                <a:path h="7315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39014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b="true" sz="2200" spc="600">
                  <a:solidFill>
                    <a:srgbClr val="1E5F7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BP-B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833110" y="3455670"/>
            <a:ext cx="6804660" cy="1501140"/>
            <a:chOff x="0" y="0"/>
            <a:chExt cx="9072880" cy="200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072880" cy="2001520"/>
            </a:xfrm>
            <a:custGeom>
              <a:avLst/>
              <a:gdLst/>
              <a:ahLst/>
              <a:cxnLst/>
              <a:rect r="r" b="b" t="t" l="l"/>
              <a:pathLst>
                <a:path h="2001520" w="907288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8697595" y="0"/>
                  </a:lnTo>
                  <a:cubicBezTo>
                    <a:pt x="8904859" y="0"/>
                    <a:pt x="9072880" y="168021"/>
                    <a:pt x="9072880" y="375285"/>
                  </a:cubicBezTo>
                  <a:lnTo>
                    <a:pt x="9072880" y="1626235"/>
                  </a:lnTo>
                  <a:cubicBezTo>
                    <a:pt x="9072880" y="1833499"/>
                    <a:pt x="8904859" y="2001520"/>
                    <a:pt x="8697595" y="2001520"/>
                  </a:cubicBezTo>
                  <a:lnTo>
                    <a:pt x="375285" y="2001520"/>
                  </a:lnTo>
                  <a:cubicBezTo>
                    <a:pt x="168021" y="2001520"/>
                    <a:pt x="0" y="1833499"/>
                    <a:pt x="0" y="1626235"/>
                  </a:cubicBezTo>
                  <a:close/>
                </a:path>
              </a:pathLst>
            </a:custGeom>
            <a:solidFill>
              <a:srgbClr val="FFFCF5"/>
            </a:solidFill>
            <a:ln w="38100" cap="sq">
              <a:solidFill>
                <a:srgbClr val="D67D3E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6035040" y="3474720"/>
            <a:ext cx="6400800" cy="1463040"/>
            <a:chOff x="0" y="0"/>
            <a:chExt cx="8534400" cy="19507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534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8534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i="true">
                  <a:solidFill>
                    <a:srgbClr val="D67D3E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「うちの管理人はこう裁いた」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833110" y="5375910"/>
            <a:ext cx="6804660" cy="1501140"/>
            <a:chOff x="0" y="0"/>
            <a:chExt cx="9072880" cy="200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072880" cy="2001520"/>
            </a:xfrm>
            <a:custGeom>
              <a:avLst/>
              <a:gdLst/>
              <a:ahLst/>
              <a:cxnLst/>
              <a:rect r="r" b="b" t="t" l="l"/>
              <a:pathLst>
                <a:path h="2001520" w="907288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8697595" y="0"/>
                  </a:lnTo>
                  <a:cubicBezTo>
                    <a:pt x="8904859" y="0"/>
                    <a:pt x="9072880" y="168021"/>
                    <a:pt x="9072880" y="375285"/>
                  </a:cubicBezTo>
                  <a:lnTo>
                    <a:pt x="9072880" y="1626235"/>
                  </a:lnTo>
                  <a:cubicBezTo>
                    <a:pt x="9072880" y="1833499"/>
                    <a:pt x="8904859" y="2001520"/>
                    <a:pt x="8697595" y="2001520"/>
                  </a:cubicBezTo>
                  <a:lnTo>
                    <a:pt x="375285" y="2001520"/>
                  </a:lnTo>
                  <a:cubicBezTo>
                    <a:pt x="168021" y="2001520"/>
                    <a:pt x="0" y="1833499"/>
                    <a:pt x="0" y="1626235"/>
                  </a:cubicBezTo>
                  <a:close/>
                </a:path>
              </a:pathLst>
            </a:custGeom>
            <a:solidFill>
              <a:srgbClr val="FFFCF5"/>
            </a:solidFill>
            <a:ln w="38100" cap="sq">
              <a:solidFill>
                <a:srgbClr val="1E5F74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6035040" y="5394960"/>
            <a:ext cx="6400800" cy="1463040"/>
            <a:chOff x="0" y="0"/>
            <a:chExt cx="8534400" cy="19507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534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8534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i="true">
                  <a:solidFill>
                    <a:srgbClr val="1E5F74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「うちのコミュニティではこう」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8412480" y="5029200"/>
            <a:ext cx="1828800" cy="640080"/>
            <a:chOff x="0" y="0"/>
            <a:chExt cx="2438400" cy="8534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438400" cy="853440"/>
            </a:xfrm>
            <a:custGeom>
              <a:avLst/>
              <a:gdLst/>
              <a:ahLst/>
              <a:cxnLst/>
              <a:rect r="r" b="b" t="t" l="l"/>
              <a:pathLst>
                <a:path h="85344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243840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E8B0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⇅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14400" y="7863840"/>
            <a:ext cx="16459200" cy="1554480"/>
            <a:chOff x="0" y="0"/>
            <a:chExt cx="21945600" cy="2072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9456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5F74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280160" y="7955280"/>
            <a:ext cx="15727680" cy="1371600"/>
            <a:chOff x="0" y="0"/>
            <a:chExt cx="20970240" cy="1828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097023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428" r="0" b="-17342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2097024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E8B04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物件特有の意思決定</a:t>
              </a:r>
              <a:r>
                <a:rPr lang="en-US" sz="26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を持ったエージェント同士が対話することで、</a:t>
              </a:r>
            </a:p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FFFCF5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単独では見えない判断・運用の差分が浮かび上がる。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0" y="9912096"/>
            <a:ext cx="18288000" cy="73152"/>
            <a:chOff x="0" y="0"/>
            <a:chExt cx="24384000" cy="9753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4384000" cy="97536"/>
            </a:xfrm>
            <a:custGeom>
              <a:avLst/>
              <a:gdLst/>
              <a:ahLst/>
              <a:cxnLst/>
              <a:rect r="r" b="b" t="t" l="l"/>
              <a:pathLst>
                <a:path h="9753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6459200" y="9509760"/>
            <a:ext cx="1645920" cy="457200"/>
            <a:chOff x="0" y="0"/>
            <a:chExt cx="2194560" cy="6096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19456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219456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6B6B6B"/>
                  </a:solidFill>
                  <a:latin typeface="Georgia"/>
                  <a:ea typeface="Georgia"/>
                  <a:cs typeface="Georgia"/>
                  <a:sym typeface="Georgia"/>
                </a:rPr>
                <a:t>12 / 15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731520" y="9509760"/>
            <a:ext cx="5486400" cy="457200"/>
            <a:chOff x="0" y="0"/>
            <a:chExt cx="7315200" cy="6096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73152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6B6B"/>
                  </a:solidFill>
                  <a:latin typeface="Arimo"/>
                  <a:ea typeface="Arimo"/>
                  <a:cs typeface="Arimo"/>
                  <a:sym typeface="Arimo"/>
                </a:rPr>
                <a:t>発表：もみやま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6400800" y="9509760"/>
            <a:ext cx="10058400" cy="457200"/>
            <a:chOff x="0" y="0"/>
            <a:chExt cx="13411200" cy="6096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3411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134112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B6B6B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ビル格 — Building Personality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822960"/>
            <a:ext cx="146304" cy="1280160"/>
            <a:chOff x="0" y="0"/>
            <a:chExt cx="195072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65860" y="893500"/>
            <a:ext cx="16093440" cy="1139081"/>
            <a:chOff x="0" y="0"/>
            <a:chExt cx="21457920" cy="15187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1518774"/>
            </a:xfrm>
            <a:custGeom>
              <a:avLst/>
              <a:gdLst/>
              <a:ahLst/>
              <a:cxnLst/>
              <a:rect r="r" b="b" t="t" l="l"/>
              <a:pathLst>
                <a:path h="1518774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518774"/>
                  </a:lnTo>
                  <a:lnTo>
                    <a:pt x="0" y="15187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1141" r="0" b="-21944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457920" cy="155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E5F7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デモ</a:t>
              </a:r>
            </a:p>
          </p:txBody>
        </p:sp>
      </p:grpSp>
      <p:pic>
        <p:nvPicPr>
          <p:cNvPr name="Picture 7" id="7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814" t="543" r="428" b="0"/>
          <a:stretch>
            <a:fillRect/>
          </a:stretch>
        </p:blipFill>
        <p:spPr>
          <a:xfrm flipH="false" flipV="false" rot="0">
            <a:off x="71244" y="376813"/>
            <a:ext cx="18216756" cy="97462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822960"/>
            <a:ext cx="146304" cy="1280160"/>
            <a:chOff x="0" y="0"/>
            <a:chExt cx="195072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8720" y="731520"/>
            <a:ext cx="16093440" cy="1139081"/>
            <a:chOff x="0" y="0"/>
            <a:chExt cx="21457920" cy="15187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1518774"/>
            </a:xfrm>
            <a:custGeom>
              <a:avLst/>
              <a:gdLst/>
              <a:ahLst/>
              <a:cxnLst/>
              <a:rect r="r" b="b" t="t" l="l"/>
              <a:pathLst>
                <a:path h="1518774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518774"/>
                  </a:lnTo>
                  <a:lnTo>
                    <a:pt x="0" y="15187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1141" r="0" b="-21944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457920" cy="155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E5F7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Chatbot</a:t>
              </a:r>
              <a:r>
                <a:rPr lang="en-US" sz="5599" b="true">
                  <a:solidFill>
                    <a:srgbClr val="1E5F7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からAgentへ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88720" y="1737360"/>
            <a:ext cx="16093440" cy="548640"/>
            <a:chOff x="0" y="0"/>
            <a:chExt cx="2145792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4579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D67D3E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From Chatbot to Autonomous Agent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743200"/>
            <a:ext cx="7315200" cy="6217920"/>
            <a:chOff x="0" y="0"/>
            <a:chExt cx="9753600" cy="82905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753600" cy="8290560"/>
            </a:xfrm>
            <a:custGeom>
              <a:avLst/>
              <a:gdLst/>
              <a:ahLst/>
              <a:cxnLst/>
              <a:rect r="r" b="b" t="t" l="l"/>
              <a:pathLst>
                <a:path h="82905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290560"/>
                  </a:lnTo>
                  <a:lnTo>
                    <a:pt x="0" y="8290560"/>
                  </a:lnTo>
                  <a:close/>
                </a:path>
              </a:pathLst>
            </a:custGeom>
            <a:solidFill>
              <a:srgbClr val="E8DDC8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80160" y="3017520"/>
            <a:ext cx="6583680" cy="640080"/>
            <a:chOff x="0" y="0"/>
            <a:chExt cx="8778240" cy="853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78240" cy="853440"/>
            </a:xfrm>
            <a:custGeom>
              <a:avLst/>
              <a:gdLst/>
              <a:ahLst/>
              <a:cxnLst/>
              <a:rect r="r" b="b" t="t" l="l"/>
              <a:pathLst>
                <a:path h="8534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417" r="0" b="-15041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877824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1000">
                  <a:solidFill>
                    <a:srgbClr val="6B6B6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CHATBOT AI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80160" y="3657600"/>
            <a:ext cx="6583680" cy="822960"/>
            <a:chOff x="0" y="0"/>
            <a:chExt cx="877824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778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877824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E5F7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情報を持つだけ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80160" y="4754880"/>
            <a:ext cx="6583680" cy="2743200"/>
            <a:chOff x="0" y="0"/>
            <a:chExt cx="8778240" cy="3657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7782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8778240" cy="3676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● ChatGPT 同士の会話レベル</a:t>
              </a:r>
            </a:p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D67D3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● 非自律</a:t>
              </a:r>
            </a:p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● 単発の応答に閉じる</a:t>
              </a:r>
            </a:p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2A2A2A"/>
                  </a:solidFill>
                  <a:latin typeface="Arimo"/>
                  <a:ea typeface="Arimo"/>
                  <a:cs typeface="Arimo"/>
                  <a:sym typeface="Arimo"/>
                </a:rPr>
                <a:t>● 自分から動かない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4400" y="8321040"/>
            <a:ext cx="7315200" cy="640080"/>
            <a:chOff x="0" y="0"/>
            <a:chExt cx="9753600" cy="8534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6B6B6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" y="8321040"/>
            <a:ext cx="7315200" cy="640080"/>
            <a:chOff x="0" y="0"/>
            <a:chExt cx="9753600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975360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 spc="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限界あり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29600" y="5577840"/>
            <a:ext cx="1828800" cy="914400"/>
            <a:chOff x="0" y="0"/>
            <a:chExt cx="2438400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229600" y="5486400"/>
            <a:ext cx="1828800" cy="1097280"/>
            <a:chOff x="0" y="0"/>
            <a:chExt cx="2438400" cy="14630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38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24384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→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058400" y="2743200"/>
            <a:ext cx="7315200" cy="6217920"/>
            <a:chOff x="0" y="0"/>
            <a:chExt cx="9753600" cy="82905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753600" cy="8290560"/>
            </a:xfrm>
            <a:custGeom>
              <a:avLst/>
              <a:gdLst/>
              <a:ahLst/>
              <a:cxnLst/>
              <a:rect r="r" b="b" t="t" l="l"/>
              <a:pathLst>
                <a:path h="82905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290560"/>
                  </a:lnTo>
                  <a:lnTo>
                    <a:pt x="0" y="8290560"/>
                  </a:lnTo>
                  <a:close/>
                </a:path>
              </a:pathLst>
            </a:custGeom>
            <a:solidFill>
              <a:srgbClr val="1E5F74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424160" y="3017520"/>
            <a:ext cx="6583680" cy="640080"/>
            <a:chOff x="0" y="0"/>
            <a:chExt cx="8778240" cy="853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778240" cy="853440"/>
            </a:xfrm>
            <a:custGeom>
              <a:avLst/>
              <a:gdLst/>
              <a:ahLst/>
              <a:cxnLst/>
              <a:rect r="r" b="b" t="t" l="l"/>
              <a:pathLst>
                <a:path h="8534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417" r="0" b="-15041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877824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1000">
                  <a:solidFill>
                    <a:srgbClr val="E8B0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AUTONOMOUS AGENT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424160" y="3657600"/>
            <a:ext cx="6583680" cy="822960"/>
            <a:chOff x="0" y="0"/>
            <a:chExt cx="8778240" cy="10972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778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877824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自律的に判断する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424160" y="4754880"/>
            <a:ext cx="6583680" cy="2743200"/>
            <a:chOff x="0" y="0"/>
            <a:chExt cx="8778240" cy="3657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7782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8778240" cy="3676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FFFCF5"/>
                  </a:solidFill>
                  <a:latin typeface="Arimo"/>
                  <a:ea typeface="Arimo"/>
                  <a:cs typeface="Arimo"/>
                  <a:sym typeface="Arimo"/>
                </a:rPr>
                <a:t>● 物件固有の価値観で動く</a:t>
              </a:r>
            </a:p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E8B04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● 自律</a:t>
              </a:r>
            </a:p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FFFCF5"/>
                  </a:solidFill>
                  <a:latin typeface="Arimo"/>
                  <a:ea typeface="Arimo"/>
                  <a:cs typeface="Arimo"/>
                  <a:sym typeface="Arimo"/>
                </a:rPr>
                <a:t>● 文脈と判断履歴を持つ</a:t>
              </a:r>
            </a:p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FFFCF5"/>
                  </a:solidFill>
                  <a:latin typeface="Arimo"/>
                  <a:ea typeface="Arimo"/>
                  <a:cs typeface="Arimo"/>
                  <a:sym typeface="Arimo"/>
                </a:rPr>
                <a:t>● 安定期にも提案を出す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058400" y="8321040"/>
            <a:ext cx="7315200" cy="640080"/>
            <a:chOff x="0" y="0"/>
            <a:chExt cx="9753600" cy="853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058400" y="8321040"/>
            <a:ext cx="7315200" cy="640080"/>
            <a:chOff x="0" y="0"/>
            <a:chExt cx="9753600" cy="853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975360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 spc="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複雑な検討に到達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0" y="9912096"/>
            <a:ext cx="18288000" cy="73152"/>
            <a:chOff x="0" y="0"/>
            <a:chExt cx="24384000" cy="9753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4384000" cy="97536"/>
            </a:xfrm>
            <a:custGeom>
              <a:avLst/>
              <a:gdLst/>
              <a:ahLst/>
              <a:cxnLst/>
              <a:rect r="r" b="b" t="t" l="l"/>
              <a:pathLst>
                <a:path h="9753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6459200" y="9509760"/>
            <a:ext cx="1645920" cy="457200"/>
            <a:chOff x="0" y="0"/>
            <a:chExt cx="2194560" cy="609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19456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219456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6B6B6B"/>
                  </a:solidFill>
                  <a:latin typeface="Georgia"/>
                  <a:ea typeface="Georgia"/>
                  <a:cs typeface="Georgia"/>
                  <a:sym typeface="Georgia"/>
                </a:rPr>
                <a:t>13 / 15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31520" y="9509760"/>
            <a:ext cx="5486400" cy="457200"/>
            <a:chOff x="0" y="0"/>
            <a:chExt cx="7315200" cy="6096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73152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6B6B"/>
                  </a:solidFill>
                  <a:latin typeface="Arimo"/>
                  <a:ea typeface="Arimo"/>
                  <a:cs typeface="Arimo"/>
                  <a:sym typeface="Arimo"/>
                </a:rPr>
                <a:t>発表：もみやま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400800" y="9509760"/>
            <a:ext cx="10058400" cy="457200"/>
            <a:chOff x="0" y="0"/>
            <a:chExt cx="13411200" cy="6096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3411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134112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B6B6B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ビル格 — Building Personality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822960"/>
            <a:ext cx="146304" cy="1280160"/>
            <a:chOff x="0" y="0"/>
            <a:chExt cx="195072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8720" y="731520"/>
            <a:ext cx="16093440" cy="1005840"/>
            <a:chOff x="0" y="0"/>
            <a:chExt cx="214579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45792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E5F7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都市計画への展開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88720" y="1737360"/>
            <a:ext cx="16093440" cy="548640"/>
            <a:chOff x="0" y="0"/>
            <a:chExt cx="2145792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4579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D67D3E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Scaling to Urban Planning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59230" y="5650748"/>
            <a:ext cx="1280160" cy="2560320"/>
            <a:chOff x="0" y="0"/>
            <a:chExt cx="1706880" cy="34137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68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749040" y="4882896"/>
            <a:ext cx="1280160" cy="3163824"/>
            <a:chOff x="0" y="0"/>
            <a:chExt cx="1706880" cy="42184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06880" cy="4218432"/>
            </a:xfrm>
            <a:custGeom>
              <a:avLst/>
              <a:gdLst/>
              <a:ahLst/>
              <a:cxnLst/>
              <a:rect r="r" b="b" t="t" l="l"/>
              <a:pathLst>
                <a:path h="421843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4218432"/>
                  </a:lnTo>
                  <a:lnTo>
                    <a:pt x="0" y="4218432"/>
                  </a:lnTo>
                  <a:close/>
                </a:path>
              </a:pathLst>
            </a:custGeom>
            <a:solidFill>
              <a:srgbClr val="E27D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035040" y="4718304"/>
            <a:ext cx="1280160" cy="3657600"/>
            <a:chOff x="0" y="0"/>
            <a:chExt cx="1706880" cy="4876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0688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E8B04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324850" y="5579364"/>
            <a:ext cx="1280160" cy="2560320"/>
            <a:chOff x="0" y="0"/>
            <a:chExt cx="1706880" cy="34137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068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4A8A9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607040" y="4882896"/>
            <a:ext cx="1280160" cy="3163824"/>
            <a:chOff x="0" y="0"/>
            <a:chExt cx="1706880" cy="42184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06880" cy="4218432"/>
            </a:xfrm>
            <a:custGeom>
              <a:avLst/>
              <a:gdLst/>
              <a:ahLst/>
              <a:cxnLst/>
              <a:rect r="r" b="b" t="t" l="l"/>
              <a:pathLst>
                <a:path h="421843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4218432"/>
                  </a:lnTo>
                  <a:lnTo>
                    <a:pt x="0" y="4218432"/>
                  </a:lnTo>
                  <a:close/>
                </a:path>
              </a:pathLst>
            </a:custGeom>
            <a:solidFill>
              <a:srgbClr val="1E5F7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893040" y="4718304"/>
            <a:ext cx="1280160" cy="3657600"/>
            <a:chOff x="0" y="0"/>
            <a:chExt cx="1706880" cy="4876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0688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5179040" y="5579364"/>
            <a:ext cx="1280160" cy="2560320"/>
            <a:chOff x="0" y="0"/>
            <a:chExt cx="1706880" cy="3413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068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E27D6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14400" y="2743200"/>
            <a:ext cx="16459200" cy="652264"/>
            <a:chOff x="0" y="0"/>
            <a:chExt cx="21945600" cy="86968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45600" cy="869685"/>
            </a:xfrm>
            <a:custGeom>
              <a:avLst/>
              <a:gdLst/>
              <a:ahLst/>
              <a:cxnLst/>
              <a:rect r="r" b="b" t="t" l="l"/>
              <a:pathLst>
                <a:path h="86968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69685"/>
                  </a:lnTo>
                  <a:lnTo>
                    <a:pt x="0" y="86968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2618" r="0" b="-44075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21945600" cy="89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D67D3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 個の“思想をもつビル格”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4400" y="3383280"/>
            <a:ext cx="16459200" cy="457200"/>
            <a:chOff x="0" y="0"/>
            <a:chExt cx="21945600" cy="609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2194560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i="true">
                  <a:solidFill>
                    <a:srgbClr val="6B6B6B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autonomous agents at scale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14400" y="8046720"/>
            <a:ext cx="16459200" cy="1463040"/>
            <a:chOff x="0" y="0"/>
            <a:chExt cx="21945600" cy="1950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1E5F74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80160" y="8138160"/>
            <a:ext cx="15727680" cy="1371600"/>
            <a:chOff x="0" y="0"/>
            <a:chExt cx="20970240" cy="1828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97023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428" r="0" b="-17342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2097024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E8B04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自律エージェント同士の対話 </a:t>
              </a:r>
              <a:r>
                <a:rPr lang="en-US" sz="27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→ </a:t>
              </a:r>
              <a:r>
                <a:rPr lang="en-US" sz="27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都市計画への自律的接続</a:t>
              </a:r>
              <a:r>
                <a:rPr lang="en-US" sz="27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i="true">
                  <a:solidFill>
                    <a:srgbClr val="FFFCF5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「エージェントを作ったら偉い」を越えて、何のために作るかへ。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0" y="9912096"/>
            <a:ext cx="18288000" cy="73152"/>
            <a:chOff x="0" y="0"/>
            <a:chExt cx="24384000" cy="9753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384000" cy="97536"/>
            </a:xfrm>
            <a:custGeom>
              <a:avLst/>
              <a:gdLst/>
              <a:ahLst/>
              <a:cxnLst/>
              <a:rect r="r" b="b" t="t" l="l"/>
              <a:pathLst>
                <a:path h="9753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6459200" y="9509760"/>
            <a:ext cx="1645920" cy="457200"/>
            <a:chOff x="0" y="0"/>
            <a:chExt cx="2194560" cy="609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456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219456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6B6B6B"/>
                  </a:solidFill>
                  <a:latin typeface="Georgia"/>
                  <a:ea typeface="Georgia"/>
                  <a:cs typeface="Georgia"/>
                  <a:sym typeface="Georgia"/>
                </a:rPr>
                <a:t>14 / 15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400800" y="9509760"/>
            <a:ext cx="10058400" cy="457200"/>
            <a:chOff x="0" y="0"/>
            <a:chExt cx="13411200" cy="6096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411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134112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B6B6B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ビル格 — Building Personality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654273" y="5940430"/>
            <a:ext cx="315131" cy="358902"/>
            <a:chOff x="0" y="0"/>
            <a:chExt cx="82998" cy="9452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2998" cy="94526"/>
            </a:xfrm>
            <a:custGeom>
              <a:avLst/>
              <a:gdLst/>
              <a:ahLst/>
              <a:cxnLst/>
              <a:rect r="r" b="b" t="t" l="l"/>
              <a:pathLst>
                <a:path h="94526" w="82998">
                  <a:moveTo>
                    <a:pt x="0" y="0"/>
                  </a:moveTo>
                  <a:lnTo>
                    <a:pt x="82998" y="0"/>
                  </a:lnTo>
                  <a:lnTo>
                    <a:pt x="82998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82998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649107" y="6681734"/>
            <a:ext cx="315131" cy="358902"/>
            <a:chOff x="0" y="0"/>
            <a:chExt cx="82998" cy="9452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2998" cy="94526"/>
            </a:xfrm>
            <a:custGeom>
              <a:avLst/>
              <a:gdLst/>
              <a:ahLst/>
              <a:cxnLst/>
              <a:rect r="r" b="b" t="t" l="l"/>
              <a:pathLst>
                <a:path h="94526" w="82998">
                  <a:moveTo>
                    <a:pt x="0" y="0"/>
                  </a:moveTo>
                  <a:lnTo>
                    <a:pt x="82998" y="0"/>
                  </a:lnTo>
                  <a:lnTo>
                    <a:pt x="82998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82998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649107" y="7461382"/>
            <a:ext cx="315131" cy="358902"/>
            <a:chOff x="0" y="0"/>
            <a:chExt cx="82998" cy="9452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2998" cy="94526"/>
            </a:xfrm>
            <a:custGeom>
              <a:avLst/>
              <a:gdLst/>
              <a:ahLst/>
              <a:cxnLst/>
              <a:rect r="r" b="b" t="t" l="l"/>
              <a:pathLst>
                <a:path h="94526" w="82998">
                  <a:moveTo>
                    <a:pt x="0" y="0"/>
                  </a:moveTo>
                  <a:lnTo>
                    <a:pt x="82998" y="0"/>
                  </a:lnTo>
                  <a:lnTo>
                    <a:pt x="82998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82998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223354" y="5940430"/>
            <a:ext cx="293000" cy="358902"/>
            <a:chOff x="0" y="0"/>
            <a:chExt cx="77169" cy="9452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7169" cy="94526"/>
            </a:xfrm>
            <a:custGeom>
              <a:avLst/>
              <a:gdLst/>
              <a:ahLst/>
              <a:cxnLst/>
              <a:rect r="r" b="b" t="t" l="l"/>
              <a:pathLst>
                <a:path h="94526" w="77169">
                  <a:moveTo>
                    <a:pt x="0" y="0"/>
                  </a:moveTo>
                  <a:lnTo>
                    <a:pt x="77169" y="0"/>
                  </a:lnTo>
                  <a:lnTo>
                    <a:pt x="77169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77169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2218551" y="6681734"/>
            <a:ext cx="293000" cy="358902"/>
            <a:chOff x="0" y="0"/>
            <a:chExt cx="77169" cy="9452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7169" cy="94526"/>
            </a:xfrm>
            <a:custGeom>
              <a:avLst/>
              <a:gdLst/>
              <a:ahLst/>
              <a:cxnLst/>
              <a:rect r="r" b="b" t="t" l="l"/>
              <a:pathLst>
                <a:path h="94526" w="77169">
                  <a:moveTo>
                    <a:pt x="0" y="0"/>
                  </a:moveTo>
                  <a:lnTo>
                    <a:pt x="77169" y="0"/>
                  </a:lnTo>
                  <a:lnTo>
                    <a:pt x="77169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77169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2218551" y="7461382"/>
            <a:ext cx="293000" cy="358902"/>
            <a:chOff x="0" y="0"/>
            <a:chExt cx="77169" cy="9452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7169" cy="94526"/>
            </a:xfrm>
            <a:custGeom>
              <a:avLst/>
              <a:gdLst/>
              <a:ahLst/>
              <a:cxnLst/>
              <a:rect r="r" b="b" t="t" l="l"/>
              <a:pathLst>
                <a:path h="94526" w="77169">
                  <a:moveTo>
                    <a:pt x="0" y="0"/>
                  </a:moveTo>
                  <a:lnTo>
                    <a:pt x="77169" y="0"/>
                  </a:lnTo>
                  <a:lnTo>
                    <a:pt x="77169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77169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3960663" y="5159121"/>
            <a:ext cx="315131" cy="358902"/>
            <a:chOff x="0" y="0"/>
            <a:chExt cx="82998" cy="9452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2998" cy="94526"/>
            </a:xfrm>
            <a:custGeom>
              <a:avLst/>
              <a:gdLst/>
              <a:ahLst/>
              <a:cxnLst/>
              <a:rect r="r" b="b" t="t" l="l"/>
              <a:pathLst>
                <a:path h="94526" w="82998">
                  <a:moveTo>
                    <a:pt x="0" y="0"/>
                  </a:moveTo>
                  <a:lnTo>
                    <a:pt x="82998" y="0"/>
                  </a:lnTo>
                  <a:lnTo>
                    <a:pt x="82998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82998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3955497" y="5900425"/>
            <a:ext cx="315131" cy="358902"/>
            <a:chOff x="0" y="0"/>
            <a:chExt cx="82998" cy="9452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2998" cy="94526"/>
            </a:xfrm>
            <a:custGeom>
              <a:avLst/>
              <a:gdLst/>
              <a:ahLst/>
              <a:cxnLst/>
              <a:rect r="r" b="b" t="t" l="l"/>
              <a:pathLst>
                <a:path h="94526" w="82998">
                  <a:moveTo>
                    <a:pt x="0" y="0"/>
                  </a:moveTo>
                  <a:lnTo>
                    <a:pt x="82998" y="0"/>
                  </a:lnTo>
                  <a:lnTo>
                    <a:pt x="82998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82998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3955497" y="6680073"/>
            <a:ext cx="315131" cy="358902"/>
            <a:chOff x="0" y="0"/>
            <a:chExt cx="82998" cy="9452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2998" cy="94526"/>
            </a:xfrm>
            <a:custGeom>
              <a:avLst/>
              <a:gdLst/>
              <a:ahLst/>
              <a:cxnLst/>
              <a:rect r="r" b="b" t="t" l="l"/>
              <a:pathLst>
                <a:path h="94526" w="82998">
                  <a:moveTo>
                    <a:pt x="0" y="0"/>
                  </a:moveTo>
                  <a:lnTo>
                    <a:pt x="82998" y="0"/>
                  </a:lnTo>
                  <a:lnTo>
                    <a:pt x="82998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82998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4529743" y="5159121"/>
            <a:ext cx="293000" cy="358902"/>
            <a:chOff x="0" y="0"/>
            <a:chExt cx="77169" cy="9452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7169" cy="94526"/>
            </a:xfrm>
            <a:custGeom>
              <a:avLst/>
              <a:gdLst/>
              <a:ahLst/>
              <a:cxnLst/>
              <a:rect r="r" b="b" t="t" l="l"/>
              <a:pathLst>
                <a:path h="94526" w="77169">
                  <a:moveTo>
                    <a:pt x="0" y="0"/>
                  </a:moveTo>
                  <a:lnTo>
                    <a:pt x="77169" y="0"/>
                  </a:lnTo>
                  <a:lnTo>
                    <a:pt x="77169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77169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524940" y="5900425"/>
            <a:ext cx="293000" cy="358902"/>
            <a:chOff x="0" y="0"/>
            <a:chExt cx="77169" cy="9452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7169" cy="94526"/>
            </a:xfrm>
            <a:custGeom>
              <a:avLst/>
              <a:gdLst/>
              <a:ahLst/>
              <a:cxnLst/>
              <a:rect r="r" b="b" t="t" l="l"/>
              <a:pathLst>
                <a:path h="94526" w="77169">
                  <a:moveTo>
                    <a:pt x="0" y="0"/>
                  </a:moveTo>
                  <a:lnTo>
                    <a:pt x="77169" y="0"/>
                  </a:lnTo>
                  <a:lnTo>
                    <a:pt x="77169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77169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4524940" y="6680073"/>
            <a:ext cx="293000" cy="358902"/>
            <a:chOff x="0" y="0"/>
            <a:chExt cx="77169" cy="9452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7169" cy="94526"/>
            </a:xfrm>
            <a:custGeom>
              <a:avLst/>
              <a:gdLst/>
              <a:ahLst/>
              <a:cxnLst/>
              <a:rect r="r" b="b" t="t" l="l"/>
              <a:pathLst>
                <a:path h="94526" w="77169">
                  <a:moveTo>
                    <a:pt x="0" y="0"/>
                  </a:moveTo>
                  <a:lnTo>
                    <a:pt x="77169" y="0"/>
                  </a:lnTo>
                  <a:lnTo>
                    <a:pt x="77169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77169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6272616" y="5138547"/>
            <a:ext cx="315131" cy="358902"/>
            <a:chOff x="0" y="0"/>
            <a:chExt cx="82998" cy="9452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2998" cy="94526"/>
            </a:xfrm>
            <a:custGeom>
              <a:avLst/>
              <a:gdLst/>
              <a:ahLst/>
              <a:cxnLst/>
              <a:rect r="r" b="b" t="t" l="l"/>
              <a:pathLst>
                <a:path h="94526" w="82998">
                  <a:moveTo>
                    <a:pt x="0" y="0"/>
                  </a:moveTo>
                  <a:lnTo>
                    <a:pt x="82998" y="0"/>
                  </a:lnTo>
                  <a:lnTo>
                    <a:pt x="82998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82998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267450" y="5879851"/>
            <a:ext cx="315131" cy="358902"/>
            <a:chOff x="0" y="0"/>
            <a:chExt cx="82998" cy="9452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2998" cy="94526"/>
            </a:xfrm>
            <a:custGeom>
              <a:avLst/>
              <a:gdLst/>
              <a:ahLst/>
              <a:cxnLst/>
              <a:rect r="r" b="b" t="t" l="l"/>
              <a:pathLst>
                <a:path h="94526" w="82998">
                  <a:moveTo>
                    <a:pt x="0" y="0"/>
                  </a:moveTo>
                  <a:lnTo>
                    <a:pt x="82998" y="0"/>
                  </a:lnTo>
                  <a:lnTo>
                    <a:pt x="82998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19050"/>
              <a:ext cx="82998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267450" y="6659499"/>
            <a:ext cx="315131" cy="358902"/>
            <a:chOff x="0" y="0"/>
            <a:chExt cx="82998" cy="9452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82998" cy="94526"/>
            </a:xfrm>
            <a:custGeom>
              <a:avLst/>
              <a:gdLst/>
              <a:ahLst/>
              <a:cxnLst/>
              <a:rect r="r" b="b" t="t" l="l"/>
              <a:pathLst>
                <a:path h="94526" w="82998">
                  <a:moveTo>
                    <a:pt x="0" y="0"/>
                  </a:moveTo>
                  <a:lnTo>
                    <a:pt x="82998" y="0"/>
                  </a:lnTo>
                  <a:lnTo>
                    <a:pt x="82998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19050"/>
              <a:ext cx="82998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6841696" y="5138547"/>
            <a:ext cx="293000" cy="358902"/>
            <a:chOff x="0" y="0"/>
            <a:chExt cx="77169" cy="9452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77169" cy="94526"/>
            </a:xfrm>
            <a:custGeom>
              <a:avLst/>
              <a:gdLst/>
              <a:ahLst/>
              <a:cxnLst/>
              <a:rect r="r" b="b" t="t" l="l"/>
              <a:pathLst>
                <a:path h="94526" w="77169">
                  <a:moveTo>
                    <a:pt x="0" y="0"/>
                  </a:moveTo>
                  <a:lnTo>
                    <a:pt x="77169" y="0"/>
                  </a:lnTo>
                  <a:lnTo>
                    <a:pt x="77169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77169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6836893" y="5879851"/>
            <a:ext cx="293000" cy="358902"/>
            <a:chOff x="0" y="0"/>
            <a:chExt cx="77169" cy="9452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77169" cy="94526"/>
            </a:xfrm>
            <a:custGeom>
              <a:avLst/>
              <a:gdLst/>
              <a:ahLst/>
              <a:cxnLst/>
              <a:rect r="r" b="b" t="t" l="l"/>
              <a:pathLst>
                <a:path h="94526" w="77169">
                  <a:moveTo>
                    <a:pt x="0" y="0"/>
                  </a:moveTo>
                  <a:lnTo>
                    <a:pt x="77169" y="0"/>
                  </a:lnTo>
                  <a:lnTo>
                    <a:pt x="77169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9050"/>
              <a:ext cx="77169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6836893" y="6659499"/>
            <a:ext cx="293000" cy="358902"/>
            <a:chOff x="0" y="0"/>
            <a:chExt cx="77169" cy="94526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77169" cy="94526"/>
            </a:xfrm>
            <a:custGeom>
              <a:avLst/>
              <a:gdLst/>
              <a:ahLst/>
              <a:cxnLst/>
              <a:rect r="r" b="b" t="t" l="l"/>
              <a:pathLst>
                <a:path h="94526" w="77169">
                  <a:moveTo>
                    <a:pt x="0" y="0"/>
                  </a:moveTo>
                  <a:lnTo>
                    <a:pt x="77169" y="0"/>
                  </a:lnTo>
                  <a:lnTo>
                    <a:pt x="77169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19050"/>
              <a:ext cx="77169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8568141" y="5830702"/>
            <a:ext cx="315131" cy="358902"/>
            <a:chOff x="0" y="0"/>
            <a:chExt cx="82998" cy="9452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82998" cy="94526"/>
            </a:xfrm>
            <a:custGeom>
              <a:avLst/>
              <a:gdLst/>
              <a:ahLst/>
              <a:cxnLst/>
              <a:rect r="r" b="b" t="t" l="l"/>
              <a:pathLst>
                <a:path h="94526" w="82998">
                  <a:moveTo>
                    <a:pt x="0" y="0"/>
                  </a:moveTo>
                  <a:lnTo>
                    <a:pt x="82998" y="0"/>
                  </a:lnTo>
                  <a:lnTo>
                    <a:pt x="82998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19050"/>
              <a:ext cx="82998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8562975" y="6572006"/>
            <a:ext cx="315131" cy="358902"/>
            <a:chOff x="0" y="0"/>
            <a:chExt cx="82998" cy="9452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82998" cy="94526"/>
            </a:xfrm>
            <a:custGeom>
              <a:avLst/>
              <a:gdLst/>
              <a:ahLst/>
              <a:cxnLst/>
              <a:rect r="r" b="b" t="t" l="l"/>
              <a:pathLst>
                <a:path h="94526" w="82998">
                  <a:moveTo>
                    <a:pt x="0" y="0"/>
                  </a:moveTo>
                  <a:lnTo>
                    <a:pt x="82998" y="0"/>
                  </a:lnTo>
                  <a:lnTo>
                    <a:pt x="82998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19050"/>
              <a:ext cx="82998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8562975" y="7351654"/>
            <a:ext cx="315131" cy="358902"/>
            <a:chOff x="0" y="0"/>
            <a:chExt cx="82998" cy="94526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82998" cy="94526"/>
            </a:xfrm>
            <a:custGeom>
              <a:avLst/>
              <a:gdLst/>
              <a:ahLst/>
              <a:cxnLst/>
              <a:rect r="r" b="b" t="t" l="l"/>
              <a:pathLst>
                <a:path h="94526" w="82998">
                  <a:moveTo>
                    <a:pt x="0" y="0"/>
                  </a:moveTo>
                  <a:lnTo>
                    <a:pt x="82998" y="0"/>
                  </a:lnTo>
                  <a:lnTo>
                    <a:pt x="82998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19050"/>
              <a:ext cx="82998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9137221" y="5830702"/>
            <a:ext cx="293000" cy="358902"/>
            <a:chOff x="0" y="0"/>
            <a:chExt cx="77169" cy="94526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77169" cy="94526"/>
            </a:xfrm>
            <a:custGeom>
              <a:avLst/>
              <a:gdLst/>
              <a:ahLst/>
              <a:cxnLst/>
              <a:rect r="r" b="b" t="t" l="l"/>
              <a:pathLst>
                <a:path h="94526" w="77169">
                  <a:moveTo>
                    <a:pt x="0" y="0"/>
                  </a:moveTo>
                  <a:lnTo>
                    <a:pt x="77169" y="0"/>
                  </a:lnTo>
                  <a:lnTo>
                    <a:pt x="77169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19050"/>
              <a:ext cx="77169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9132418" y="6572006"/>
            <a:ext cx="293000" cy="358902"/>
            <a:chOff x="0" y="0"/>
            <a:chExt cx="77169" cy="94526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77169" cy="94526"/>
            </a:xfrm>
            <a:custGeom>
              <a:avLst/>
              <a:gdLst/>
              <a:ahLst/>
              <a:cxnLst/>
              <a:rect r="r" b="b" t="t" l="l"/>
              <a:pathLst>
                <a:path h="94526" w="77169">
                  <a:moveTo>
                    <a:pt x="0" y="0"/>
                  </a:moveTo>
                  <a:lnTo>
                    <a:pt x="77169" y="0"/>
                  </a:lnTo>
                  <a:lnTo>
                    <a:pt x="77169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19050"/>
              <a:ext cx="77169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9132418" y="7351654"/>
            <a:ext cx="293000" cy="358902"/>
            <a:chOff x="0" y="0"/>
            <a:chExt cx="77169" cy="9452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77169" cy="94526"/>
            </a:xfrm>
            <a:custGeom>
              <a:avLst/>
              <a:gdLst/>
              <a:ahLst/>
              <a:cxnLst/>
              <a:rect r="r" b="b" t="t" l="l"/>
              <a:pathLst>
                <a:path h="94526" w="77169">
                  <a:moveTo>
                    <a:pt x="0" y="0"/>
                  </a:moveTo>
                  <a:lnTo>
                    <a:pt x="77169" y="0"/>
                  </a:lnTo>
                  <a:lnTo>
                    <a:pt x="77169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19050"/>
              <a:ext cx="77169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0825566" y="5279654"/>
            <a:ext cx="315131" cy="358902"/>
            <a:chOff x="0" y="0"/>
            <a:chExt cx="82998" cy="9452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82998" cy="94526"/>
            </a:xfrm>
            <a:custGeom>
              <a:avLst/>
              <a:gdLst/>
              <a:ahLst/>
              <a:cxnLst/>
              <a:rect r="r" b="b" t="t" l="l"/>
              <a:pathLst>
                <a:path h="94526" w="82998">
                  <a:moveTo>
                    <a:pt x="0" y="0"/>
                  </a:moveTo>
                  <a:lnTo>
                    <a:pt x="82998" y="0"/>
                  </a:lnTo>
                  <a:lnTo>
                    <a:pt x="82998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4A8A9D"/>
            </a:solid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19050"/>
              <a:ext cx="82998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0820400" y="6020957"/>
            <a:ext cx="315131" cy="358902"/>
            <a:chOff x="0" y="0"/>
            <a:chExt cx="82998" cy="9452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82998" cy="94526"/>
            </a:xfrm>
            <a:custGeom>
              <a:avLst/>
              <a:gdLst/>
              <a:ahLst/>
              <a:cxnLst/>
              <a:rect r="r" b="b" t="t" l="l"/>
              <a:pathLst>
                <a:path h="94526" w="82998">
                  <a:moveTo>
                    <a:pt x="0" y="0"/>
                  </a:moveTo>
                  <a:lnTo>
                    <a:pt x="82998" y="0"/>
                  </a:lnTo>
                  <a:lnTo>
                    <a:pt x="82998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4A8A9D"/>
            </a:solid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19050"/>
              <a:ext cx="82998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0820400" y="6800606"/>
            <a:ext cx="315131" cy="358902"/>
            <a:chOff x="0" y="0"/>
            <a:chExt cx="82998" cy="9452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82998" cy="94526"/>
            </a:xfrm>
            <a:custGeom>
              <a:avLst/>
              <a:gdLst/>
              <a:ahLst/>
              <a:cxnLst/>
              <a:rect r="r" b="b" t="t" l="l"/>
              <a:pathLst>
                <a:path h="94526" w="82998">
                  <a:moveTo>
                    <a:pt x="0" y="0"/>
                  </a:moveTo>
                  <a:lnTo>
                    <a:pt x="82998" y="0"/>
                  </a:lnTo>
                  <a:lnTo>
                    <a:pt x="82998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4A8A9D"/>
            </a:solid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19050"/>
              <a:ext cx="82998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1394646" y="5279654"/>
            <a:ext cx="293000" cy="358902"/>
            <a:chOff x="0" y="0"/>
            <a:chExt cx="77169" cy="9452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77169" cy="94526"/>
            </a:xfrm>
            <a:custGeom>
              <a:avLst/>
              <a:gdLst/>
              <a:ahLst/>
              <a:cxnLst/>
              <a:rect r="r" b="b" t="t" l="l"/>
              <a:pathLst>
                <a:path h="94526" w="77169">
                  <a:moveTo>
                    <a:pt x="0" y="0"/>
                  </a:moveTo>
                  <a:lnTo>
                    <a:pt x="77169" y="0"/>
                  </a:lnTo>
                  <a:lnTo>
                    <a:pt x="77169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4A8A9D"/>
            </a:solid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19050"/>
              <a:ext cx="77169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1389843" y="6020957"/>
            <a:ext cx="293000" cy="358902"/>
            <a:chOff x="0" y="0"/>
            <a:chExt cx="77169" cy="9452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77169" cy="94526"/>
            </a:xfrm>
            <a:custGeom>
              <a:avLst/>
              <a:gdLst/>
              <a:ahLst/>
              <a:cxnLst/>
              <a:rect r="r" b="b" t="t" l="l"/>
              <a:pathLst>
                <a:path h="94526" w="77169">
                  <a:moveTo>
                    <a:pt x="0" y="0"/>
                  </a:moveTo>
                  <a:lnTo>
                    <a:pt x="77169" y="0"/>
                  </a:lnTo>
                  <a:lnTo>
                    <a:pt x="77169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4A8A9D"/>
            </a:solid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19050"/>
              <a:ext cx="77169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1389843" y="6800606"/>
            <a:ext cx="293000" cy="358902"/>
            <a:chOff x="0" y="0"/>
            <a:chExt cx="77169" cy="9452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7169" cy="94526"/>
            </a:xfrm>
            <a:custGeom>
              <a:avLst/>
              <a:gdLst/>
              <a:ahLst/>
              <a:cxnLst/>
              <a:rect r="r" b="b" t="t" l="l"/>
              <a:pathLst>
                <a:path h="94526" w="77169">
                  <a:moveTo>
                    <a:pt x="0" y="0"/>
                  </a:moveTo>
                  <a:lnTo>
                    <a:pt x="77169" y="0"/>
                  </a:lnTo>
                  <a:lnTo>
                    <a:pt x="77169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4A8A9D"/>
            </a:solid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19050"/>
              <a:ext cx="77169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13140141" y="5138547"/>
            <a:ext cx="315131" cy="358902"/>
            <a:chOff x="0" y="0"/>
            <a:chExt cx="82998" cy="94526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82998" cy="94526"/>
            </a:xfrm>
            <a:custGeom>
              <a:avLst/>
              <a:gdLst/>
              <a:ahLst/>
              <a:cxnLst/>
              <a:rect r="r" b="b" t="t" l="l"/>
              <a:pathLst>
                <a:path h="94526" w="82998">
                  <a:moveTo>
                    <a:pt x="0" y="0"/>
                  </a:moveTo>
                  <a:lnTo>
                    <a:pt x="82998" y="0"/>
                  </a:lnTo>
                  <a:lnTo>
                    <a:pt x="82998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19050"/>
              <a:ext cx="82998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3134975" y="5879851"/>
            <a:ext cx="315131" cy="358902"/>
            <a:chOff x="0" y="0"/>
            <a:chExt cx="82998" cy="94526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82998" cy="94526"/>
            </a:xfrm>
            <a:custGeom>
              <a:avLst/>
              <a:gdLst/>
              <a:ahLst/>
              <a:cxnLst/>
              <a:rect r="r" b="b" t="t" l="l"/>
              <a:pathLst>
                <a:path h="94526" w="82998">
                  <a:moveTo>
                    <a:pt x="0" y="0"/>
                  </a:moveTo>
                  <a:lnTo>
                    <a:pt x="82998" y="0"/>
                  </a:lnTo>
                  <a:lnTo>
                    <a:pt x="82998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19050"/>
              <a:ext cx="82998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13134975" y="6659499"/>
            <a:ext cx="315131" cy="358902"/>
            <a:chOff x="0" y="0"/>
            <a:chExt cx="82998" cy="94526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82998" cy="94526"/>
            </a:xfrm>
            <a:custGeom>
              <a:avLst/>
              <a:gdLst/>
              <a:ahLst/>
              <a:cxnLst/>
              <a:rect r="r" b="b" t="t" l="l"/>
              <a:pathLst>
                <a:path h="94526" w="82998">
                  <a:moveTo>
                    <a:pt x="0" y="0"/>
                  </a:moveTo>
                  <a:lnTo>
                    <a:pt x="82998" y="0"/>
                  </a:lnTo>
                  <a:lnTo>
                    <a:pt x="82998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19050"/>
              <a:ext cx="82998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13709221" y="5138547"/>
            <a:ext cx="293000" cy="358902"/>
            <a:chOff x="0" y="0"/>
            <a:chExt cx="77169" cy="94526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77169" cy="94526"/>
            </a:xfrm>
            <a:custGeom>
              <a:avLst/>
              <a:gdLst/>
              <a:ahLst/>
              <a:cxnLst/>
              <a:rect r="r" b="b" t="t" l="l"/>
              <a:pathLst>
                <a:path h="94526" w="77169">
                  <a:moveTo>
                    <a:pt x="0" y="0"/>
                  </a:moveTo>
                  <a:lnTo>
                    <a:pt x="77169" y="0"/>
                  </a:lnTo>
                  <a:lnTo>
                    <a:pt x="77169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19050"/>
              <a:ext cx="77169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13704418" y="5879851"/>
            <a:ext cx="293000" cy="358902"/>
            <a:chOff x="0" y="0"/>
            <a:chExt cx="77169" cy="94526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77169" cy="94526"/>
            </a:xfrm>
            <a:custGeom>
              <a:avLst/>
              <a:gdLst/>
              <a:ahLst/>
              <a:cxnLst/>
              <a:rect r="r" b="b" t="t" l="l"/>
              <a:pathLst>
                <a:path h="94526" w="77169">
                  <a:moveTo>
                    <a:pt x="0" y="0"/>
                  </a:moveTo>
                  <a:lnTo>
                    <a:pt x="77169" y="0"/>
                  </a:lnTo>
                  <a:lnTo>
                    <a:pt x="77169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19050"/>
              <a:ext cx="77169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13704418" y="6659499"/>
            <a:ext cx="293000" cy="358902"/>
            <a:chOff x="0" y="0"/>
            <a:chExt cx="77169" cy="94526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77169" cy="94526"/>
            </a:xfrm>
            <a:custGeom>
              <a:avLst/>
              <a:gdLst/>
              <a:ahLst/>
              <a:cxnLst/>
              <a:rect r="r" b="b" t="t" l="l"/>
              <a:pathLst>
                <a:path h="94526" w="77169">
                  <a:moveTo>
                    <a:pt x="0" y="0"/>
                  </a:moveTo>
                  <a:lnTo>
                    <a:pt x="77169" y="0"/>
                  </a:lnTo>
                  <a:lnTo>
                    <a:pt x="77169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19050"/>
              <a:ext cx="77169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15397566" y="5851276"/>
            <a:ext cx="315131" cy="358902"/>
            <a:chOff x="0" y="0"/>
            <a:chExt cx="82998" cy="94526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82998" cy="94526"/>
            </a:xfrm>
            <a:custGeom>
              <a:avLst/>
              <a:gdLst/>
              <a:ahLst/>
              <a:cxnLst/>
              <a:rect r="r" b="b" t="t" l="l"/>
              <a:pathLst>
                <a:path h="94526" w="82998">
                  <a:moveTo>
                    <a:pt x="0" y="0"/>
                  </a:moveTo>
                  <a:lnTo>
                    <a:pt x="82998" y="0"/>
                  </a:lnTo>
                  <a:lnTo>
                    <a:pt x="82998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19050"/>
              <a:ext cx="82998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15392400" y="6592580"/>
            <a:ext cx="315131" cy="358902"/>
            <a:chOff x="0" y="0"/>
            <a:chExt cx="82998" cy="94526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82998" cy="94526"/>
            </a:xfrm>
            <a:custGeom>
              <a:avLst/>
              <a:gdLst/>
              <a:ahLst/>
              <a:cxnLst/>
              <a:rect r="r" b="b" t="t" l="l"/>
              <a:pathLst>
                <a:path h="94526" w="82998">
                  <a:moveTo>
                    <a:pt x="0" y="0"/>
                  </a:moveTo>
                  <a:lnTo>
                    <a:pt x="82998" y="0"/>
                  </a:lnTo>
                  <a:lnTo>
                    <a:pt x="82998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19050"/>
              <a:ext cx="82998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15392400" y="7372228"/>
            <a:ext cx="315131" cy="358902"/>
            <a:chOff x="0" y="0"/>
            <a:chExt cx="82998" cy="94526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82998" cy="94526"/>
            </a:xfrm>
            <a:custGeom>
              <a:avLst/>
              <a:gdLst/>
              <a:ahLst/>
              <a:cxnLst/>
              <a:rect r="r" b="b" t="t" l="l"/>
              <a:pathLst>
                <a:path h="94526" w="82998">
                  <a:moveTo>
                    <a:pt x="0" y="0"/>
                  </a:moveTo>
                  <a:lnTo>
                    <a:pt x="82998" y="0"/>
                  </a:lnTo>
                  <a:lnTo>
                    <a:pt x="82998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19050"/>
              <a:ext cx="82998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15966646" y="5851276"/>
            <a:ext cx="293000" cy="358902"/>
            <a:chOff x="0" y="0"/>
            <a:chExt cx="77169" cy="94526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77169" cy="94526"/>
            </a:xfrm>
            <a:custGeom>
              <a:avLst/>
              <a:gdLst/>
              <a:ahLst/>
              <a:cxnLst/>
              <a:rect r="r" b="b" t="t" l="l"/>
              <a:pathLst>
                <a:path h="94526" w="77169">
                  <a:moveTo>
                    <a:pt x="0" y="0"/>
                  </a:moveTo>
                  <a:lnTo>
                    <a:pt x="77169" y="0"/>
                  </a:lnTo>
                  <a:lnTo>
                    <a:pt x="77169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-19050"/>
              <a:ext cx="77169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15961843" y="6592580"/>
            <a:ext cx="293000" cy="358902"/>
            <a:chOff x="0" y="0"/>
            <a:chExt cx="77169" cy="94526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77169" cy="94526"/>
            </a:xfrm>
            <a:custGeom>
              <a:avLst/>
              <a:gdLst/>
              <a:ahLst/>
              <a:cxnLst/>
              <a:rect r="r" b="b" t="t" l="l"/>
              <a:pathLst>
                <a:path h="94526" w="77169">
                  <a:moveTo>
                    <a:pt x="0" y="0"/>
                  </a:moveTo>
                  <a:lnTo>
                    <a:pt x="77169" y="0"/>
                  </a:lnTo>
                  <a:lnTo>
                    <a:pt x="77169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-19050"/>
              <a:ext cx="77169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15961843" y="7372228"/>
            <a:ext cx="293000" cy="358902"/>
            <a:chOff x="0" y="0"/>
            <a:chExt cx="77169" cy="94526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77169" cy="94526"/>
            </a:xfrm>
            <a:custGeom>
              <a:avLst/>
              <a:gdLst/>
              <a:ahLst/>
              <a:cxnLst/>
              <a:rect r="r" b="b" t="t" l="l"/>
              <a:pathLst>
                <a:path h="94526" w="77169">
                  <a:moveTo>
                    <a:pt x="0" y="0"/>
                  </a:moveTo>
                  <a:lnTo>
                    <a:pt x="77169" y="0"/>
                  </a:lnTo>
                  <a:lnTo>
                    <a:pt x="77169" y="94526"/>
                  </a:lnTo>
                  <a:lnTo>
                    <a:pt x="0" y="94526"/>
                  </a:lnTo>
                  <a:close/>
                </a:path>
              </a:pathLst>
            </a:custGeom>
            <a:solidFill>
              <a:srgbClr val="1E5F74"/>
            </a:solidFill>
          </p:spPr>
        </p:sp>
        <p:sp>
          <p:nvSpPr>
            <p:cNvPr name="TextBox 168" id="168"/>
            <p:cNvSpPr txBox="true"/>
            <p:nvPr/>
          </p:nvSpPr>
          <p:spPr>
            <a:xfrm>
              <a:off x="0" y="-19050"/>
              <a:ext cx="77169" cy="11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5F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43200" y="640080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D67D3E">
                <a:alpha val="392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44800" y="-2743200"/>
            <a:ext cx="6400800" cy="6400800"/>
            <a:chOff x="0" y="0"/>
            <a:chExt cx="8534400" cy="853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534400" cy="8534400"/>
            </a:xfrm>
            <a:custGeom>
              <a:avLst/>
              <a:gdLst/>
              <a:ahLst/>
              <a:cxnLst/>
              <a:rect r="r" b="b" t="t" l="l"/>
              <a:pathLst>
                <a:path h="8534400" w="8534400">
                  <a:moveTo>
                    <a:pt x="0" y="4267200"/>
                  </a:moveTo>
                  <a:cubicBezTo>
                    <a:pt x="0" y="1910461"/>
                    <a:pt x="1910461" y="0"/>
                    <a:pt x="4267200" y="0"/>
                  </a:cubicBezTo>
                  <a:cubicBezTo>
                    <a:pt x="6623939" y="0"/>
                    <a:pt x="8534400" y="1910461"/>
                    <a:pt x="8534400" y="4267200"/>
                  </a:cubicBezTo>
                  <a:cubicBezTo>
                    <a:pt x="8534400" y="6623939"/>
                    <a:pt x="6623939" y="8534400"/>
                    <a:pt x="4267200" y="8534400"/>
                  </a:cubicBezTo>
                  <a:cubicBezTo>
                    <a:pt x="1910461" y="8534400"/>
                    <a:pt x="0" y="6623939"/>
                    <a:pt x="0" y="4267200"/>
                  </a:cubicBezTo>
                  <a:close/>
                </a:path>
              </a:pathLst>
            </a:custGeom>
            <a:solidFill>
              <a:srgbClr val="E8B04B">
                <a:alpha val="3922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822960"/>
            <a:ext cx="146304" cy="1280160"/>
            <a:chOff x="0" y="0"/>
            <a:chExt cx="195072" cy="1706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072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E8B0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8720" y="73152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9456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結論・今後の展望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88720" y="1737360"/>
            <a:ext cx="16459200" cy="548640"/>
            <a:chOff x="0" y="0"/>
            <a:chExt cx="2194560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19456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E8B04B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Conclusion &amp; Future Work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2743200"/>
            <a:ext cx="5212080" cy="4023360"/>
            <a:chOff x="0" y="0"/>
            <a:chExt cx="6949440" cy="536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49440" cy="5364480"/>
            </a:xfrm>
            <a:custGeom>
              <a:avLst/>
              <a:gdLst/>
              <a:ahLst/>
              <a:cxnLst/>
              <a:rect r="r" b="b" t="t" l="l"/>
              <a:pathLst>
                <a:path h="536448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FFFCF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2743200"/>
            <a:ext cx="5212080" cy="146304"/>
            <a:chOff x="0" y="0"/>
            <a:chExt cx="6949440" cy="1950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49440" cy="195072"/>
            </a:xfrm>
            <a:custGeom>
              <a:avLst/>
              <a:gdLst/>
              <a:ahLst/>
              <a:cxnLst/>
              <a:rect r="r" b="b" t="t" l="l"/>
              <a:pathLst>
                <a:path h="19507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80160" y="3017520"/>
            <a:ext cx="1828800" cy="548640"/>
            <a:chOff x="0" y="0"/>
            <a:chExt cx="243840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4384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800">
                  <a:solidFill>
                    <a:srgbClr val="D67D3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80160" y="3566160"/>
            <a:ext cx="4572000" cy="914400"/>
            <a:chOff x="0" y="0"/>
            <a:chExt cx="6096000" cy="1219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096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609600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E5F7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価値基準の転換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82065" y="4114800"/>
            <a:ext cx="4572000" cy="2194560"/>
            <a:chOff x="0" y="0"/>
            <a:chExt cx="6096000" cy="2926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0960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585" t="0" r="-11585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6096000" cy="2945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A2A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スペック（何を持っているか）</a:t>
              </a:r>
            </a:p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A2A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→ 意味（何を語れるか）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492240" y="2743200"/>
            <a:ext cx="5212080" cy="4023360"/>
            <a:chOff x="0" y="0"/>
            <a:chExt cx="6949440" cy="53644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949440" cy="5364480"/>
            </a:xfrm>
            <a:custGeom>
              <a:avLst/>
              <a:gdLst/>
              <a:ahLst/>
              <a:cxnLst/>
              <a:rect r="r" b="b" t="t" l="l"/>
              <a:pathLst>
                <a:path h="536448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FFFCF5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492240" y="2743200"/>
            <a:ext cx="5212080" cy="146304"/>
            <a:chOff x="0" y="0"/>
            <a:chExt cx="6949440" cy="1950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949440" cy="195072"/>
            </a:xfrm>
            <a:custGeom>
              <a:avLst/>
              <a:gdLst/>
              <a:ahLst/>
              <a:cxnLst/>
              <a:rect r="r" b="b" t="t" l="l"/>
              <a:pathLst>
                <a:path h="19507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858000" y="3017520"/>
            <a:ext cx="1828800" cy="548640"/>
            <a:chOff x="0" y="0"/>
            <a:chExt cx="243840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24384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800">
                  <a:solidFill>
                    <a:srgbClr val="D67D3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858000" y="3566160"/>
            <a:ext cx="4572000" cy="914400"/>
            <a:chOff x="0" y="0"/>
            <a:chExt cx="6096000" cy="1219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96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609600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E5F7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ストックの再定義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995160" y="4046220"/>
            <a:ext cx="4572000" cy="2194560"/>
            <a:chOff x="0" y="0"/>
            <a:chExt cx="6096000" cy="29260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0960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585" t="0" r="-11585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6096000" cy="2945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A2A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築年数は減損指標ではなく</a:t>
              </a:r>
            </a:p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A2A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人格の深みを示す指標へ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070080" y="2743200"/>
            <a:ext cx="5212080" cy="4023360"/>
            <a:chOff x="0" y="0"/>
            <a:chExt cx="6949440" cy="53644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949440" cy="5364480"/>
            </a:xfrm>
            <a:custGeom>
              <a:avLst/>
              <a:gdLst/>
              <a:ahLst/>
              <a:cxnLst/>
              <a:rect r="r" b="b" t="t" l="l"/>
              <a:pathLst>
                <a:path h="536448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FFFCF5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070080" y="2743200"/>
            <a:ext cx="5212080" cy="146304"/>
            <a:chOff x="0" y="0"/>
            <a:chExt cx="6949440" cy="19507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949440" cy="195072"/>
            </a:xfrm>
            <a:custGeom>
              <a:avLst/>
              <a:gdLst/>
              <a:ahLst/>
              <a:cxnLst/>
              <a:rect r="r" b="b" t="t" l="l"/>
              <a:pathLst>
                <a:path h="19507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D67D3E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435840" y="3017520"/>
            <a:ext cx="1828800" cy="548640"/>
            <a:chOff x="0" y="0"/>
            <a:chExt cx="243840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24384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800">
                  <a:solidFill>
                    <a:srgbClr val="D67D3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435840" y="3566160"/>
            <a:ext cx="4572000" cy="914400"/>
            <a:chOff x="0" y="0"/>
            <a:chExt cx="6096000" cy="1219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096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609600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E5F7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新たな協創関係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437745" y="3907284"/>
            <a:ext cx="4572000" cy="2194560"/>
            <a:chOff x="0" y="0"/>
            <a:chExt cx="6096000" cy="29260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0960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585" t="0" r="-11585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6096000" cy="2945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A2A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人間 × 建築 × AI が</a:t>
              </a:r>
            </a:p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A2A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対話で共に価値を創造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01703" y="7119623"/>
            <a:ext cx="16484603" cy="1854203"/>
            <a:chOff x="0" y="0"/>
            <a:chExt cx="21979471" cy="247227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979510" cy="2472309"/>
            </a:xfrm>
            <a:custGeom>
              <a:avLst/>
              <a:gdLst/>
              <a:ahLst/>
              <a:cxnLst/>
              <a:rect r="r" b="b" t="t" l="l"/>
              <a:pathLst>
                <a:path h="2472309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2472309"/>
                  </a:lnTo>
                  <a:lnTo>
                    <a:pt x="0" y="2472309"/>
                  </a:lnTo>
                  <a:close/>
                </a:path>
              </a:pathLst>
            </a:custGeom>
            <a:solidFill>
              <a:srgbClr val="1E5F74"/>
            </a:solidFill>
            <a:ln w="25400" cap="sq">
              <a:solidFill>
                <a:srgbClr val="E8B04B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280160" y="7315200"/>
            <a:ext cx="2194560" cy="548640"/>
            <a:chOff x="0" y="0"/>
            <a:chExt cx="292608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29260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799">
                  <a:solidFill>
                    <a:srgbClr val="E8B04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残課題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80160" y="7863840"/>
            <a:ext cx="15727680" cy="1005840"/>
            <a:chOff x="0" y="0"/>
            <a:chExt cx="20970240" cy="13411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09702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4675" r="0" b="-25467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209702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C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(i) 暗黙知と判断プロセスの詳細と明確な言語化　(ii) 誤引用・幻覚によるブランド毀損　(iii) 運用更新に追随する知識管理　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C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(iv) 人格の矛盾の扱い　</a:t>
              </a:r>
              <a:r>
                <a:rPr lang="en-US" sz="2100" b="true">
                  <a:solidFill>
                    <a:srgbClr val="E8B04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➡︎</a:t>
              </a:r>
              <a:r>
                <a:rPr lang="en-US" sz="2100" b="true">
                  <a:solidFill>
                    <a:srgbClr val="FFFC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　</a:t>
              </a:r>
              <a:r>
                <a:rPr lang="en-US" b="true" sz="2100" i="true">
                  <a:solidFill>
                    <a:srgbClr val="E8B04B"/>
                  </a:solidFill>
                  <a:latin typeface="Arimo Bold Italics"/>
                  <a:ea typeface="Arimo Bold Italics"/>
                  <a:cs typeface="Arimo Bold Italics"/>
                  <a:sym typeface="Arimo Bold Italics"/>
                </a:rPr>
                <a:t>「禁則・例外・決裁」を条文化し、根拠のない断定を抑制する設計原則が重要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0" y="9912096"/>
            <a:ext cx="18288000" cy="91440"/>
            <a:chOff x="0" y="0"/>
            <a:chExt cx="24384000" cy="1219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4384000" cy="121920"/>
            </a:xfrm>
            <a:custGeom>
              <a:avLst/>
              <a:gdLst/>
              <a:ahLst/>
              <a:cxnLst/>
              <a:rect r="r" b="b" t="t" l="l"/>
              <a:pathLst>
                <a:path h="1219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E8B04B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DAHLqV5-Qa4</dc:identifier>
  <dcterms:modified xsi:type="dcterms:W3CDTF">2011-08-01T06:04:30Z</dcterms:modified>
  <cp:revision>1</cp:revision>
  <dc:title>1. 背景と課題</dc:title>
</cp:coreProperties>
</file>